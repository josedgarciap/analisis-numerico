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" charset="1" panose="02000000000000000000"/>
      <p:regular r:id="rId19"/>
    </p:embeddedFont>
    <p:embeddedFont>
      <p:font typeface="Roboto Bold" charset="1" panose="02000000000000000000"/>
      <p:regular r:id="rId21"/>
    </p:embeddedFont>
    <p:embeddedFont>
      <p:font typeface="Consolas" charset="1" panose="020B0609020204030204"/>
      <p:regular r:id="rId25"/>
    </p:embeddedFont>
    <p:embeddedFont>
      <p:font typeface="Roboto Italics" charset="1" panose="02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000" t="0" r="-5000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6654251"/>
            <a:ext cx="1235869" cy="532809"/>
            <a:chOff x="0" y="0"/>
            <a:chExt cx="1647825" cy="710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7825" cy="710438"/>
            </a:xfrm>
            <a:custGeom>
              <a:avLst/>
              <a:gdLst/>
              <a:ahLst/>
              <a:cxnLst/>
              <a:rect r="r" b="b" t="t" l="l"/>
              <a:pathLst>
                <a:path h="710438" w="164782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520825" y="0"/>
                  </a:lnTo>
                  <a:cubicBezTo>
                    <a:pt x="1590929" y="0"/>
                    <a:pt x="1647825" y="56896"/>
                    <a:pt x="1647825" y="127000"/>
                  </a:cubicBezTo>
                  <a:lnTo>
                    <a:pt x="1647825" y="583438"/>
                  </a:lnTo>
                  <a:cubicBezTo>
                    <a:pt x="1647825" y="653542"/>
                    <a:pt x="1590929" y="710438"/>
                    <a:pt x="1520825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0F163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3042647"/>
            <a:ext cx="9445523" cy="127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Método de Punto Fijo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4709665"/>
            <a:ext cx="6791620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Implementación en 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5776912"/>
            <a:ext cx="9445523" cy="42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Análisis Numérico · UFPSO · José David Garcia Pineda -192349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20345" y="6663033"/>
            <a:ext cx="895645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5976" y="3785149"/>
            <a:ext cx="6858000" cy="4065384"/>
            <a:chOff x="0" y="0"/>
            <a:chExt cx="9144000" cy="54205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5420513"/>
            </a:xfrm>
            <a:custGeom>
              <a:avLst/>
              <a:gdLst/>
              <a:ahLst/>
              <a:cxnLst/>
              <a:rect r="r" b="b" t="t" l="l"/>
              <a:pathLst>
                <a:path h="5420513" w="9144000">
                  <a:moveTo>
                    <a:pt x="355600" y="0"/>
                  </a:moveTo>
                  <a:lnTo>
                    <a:pt x="8788400" y="0"/>
                  </a:lnTo>
                  <a:cubicBezTo>
                    <a:pt x="8984793" y="0"/>
                    <a:pt x="9144000" y="159208"/>
                    <a:pt x="9144000" y="355600"/>
                  </a:cubicBezTo>
                  <a:lnTo>
                    <a:pt x="9144000" y="5064913"/>
                  </a:lnTo>
                  <a:cubicBezTo>
                    <a:pt x="9144000" y="5159223"/>
                    <a:pt x="9106535" y="5249672"/>
                    <a:pt x="9039847" y="5316360"/>
                  </a:cubicBezTo>
                  <a:cubicBezTo>
                    <a:pt x="8973159" y="5383048"/>
                    <a:pt x="8882711" y="5420513"/>
                    <a:pt x="8788400" y="5420513"/>
                  </a:cubicBezTo>
                  <a:lnTo>
                    <a:pt x="355600" y="5420513"/>
                  </a:lnTo>
                  <a:cubicBezTo>
                    <a:pt x="159208" y="5420513"/>
                    <a:pt x="0" y="5261305"/>
                    <a:pt x="0" y="5064913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blipFill>
              <a:blip r:embed="rId4"/>
              <a:stretch>
                <a:fillRect l="-23411" t="0" r="-234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45476" y="3546129"/>
            <a:ext cx="4590459" cy="2569521"/>
            <a:chOff x="0" y="0"/>
            <a:chExt cx="6120613" cy="3426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107811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7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8807" y="0"/>
                  </a:lnTo>
                  <a:cubicBezTo>
                    <a:pt x="6036691" y="0"/>
                    <a:pt x="6107811" y="71120"/>
                    <a:pt x="6107811" y="158750"/>
                  </a:cubicBezTo>
                  <a:lnTo>
                    <a:pt x="6107811" y="3254502"/>
                  </a:lnTo>
                  <a:cubicBezTo>
                    <a:pt x="6107811" y="3342259"/>
                    <a:pt x="6036564" y="3413252"/>
                    <a:pt x="5948807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0511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470" y="0"/>
                    <a:pt x="6120511" y="73914"/>
                    <a:pt x="6120511" y="165100"/>
                  </a:cubicBezTo>
                  <a:lnTo>
                    <a:pt x="6114161" y="165100"/>
                  </a:lnTo>
                  <a:lnTo>
                    <a:pt x="6120511" y="165100"/>
                  </a:lnTo>
                  <a:lnTo>
                    <a:pt x="6120511" y="3260852"/>
                  </a:lnTo>
                  <a:lnTo>
                    <a:pt x="6114161" y="3260852"/>
                  </a:lnTo>
                  <a:lnTo>
                    <a:pt x="6120511" y="3260852"/>
                  </a:lnTo>
                  <a:cubicBezTo>
                    <a:pt x="6120511" y="3352038"/>
                    <a:pt x="6046470" y="3425952"/>
                    <a:pt x="5955157" y="3425952"/>
                  </a:cubicBezTo>
                  <a:lnTo>
                    <a:pt x="5955157" y="3419602"/>
                  </a:lnTo>
                  <a:lnTo>
                    <a:pt x="5955157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157" y="3413252"/>
                  </a:lnTo>
                  <a:cubicBezTo>
                    <a:pt x="6039485" y="3413252"/>
                    <a:pt x="6107811" y="3345053"/>
                    <a:pt x="6107811" y="3260852"/>
                  </a:cubicBezTo>
                  <a:lnTo>
                    <a:pt x="6107811" y="165100"/>
                  </a:lnTo>
                  <a:cubicBezTo>
                    <a:pt x="6107811" y="80899"/>
                    <a:pt x="6039485" y="12700"/>
                    <a:pt x="5955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09922" y="3546129"/>
            <a:ext cx="4590602" cy="2569521"/>
            <a:chOff x="0" y="0"/>
            <a:chExt cx="6120803" cy="34260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45476" y="6389637"/>
            <a:ext cx="9455048" cy="1662265"/>
            <a:chOff x="0" y="0"/>
            <a:chExt cx="12606731" cy="2216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12594082" cy="2203577"/>
            </a:xfrm>
            <a:custGeom>
              <a:avLst/>
              <a:gdLst/>
              <a:ahLst/>
              <a:cxnLst/>
              <a:rect r="r" b="b" t="t" l="l"/>
              <a:pathLst>
                <a:path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06782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850238" y="2201618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Objetivo del Software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43284" y="3815353"/>
            <a:ext cx="369614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🎯</a:t>
            </a: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Problema a resolver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3284" y="4361707"/>
            <a:ext cx="3994842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Encontrar </a:t>
            </a:r>
            <a:r>
              <a:rPr lang="en-US" sz="2187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raíces de ecuaciones no lineales</a:t>
            </a: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mediante aproximaciones sucesivas.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07731" y="3815353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🔁</a:t>
            </a: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Proceso iterativo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07731" y="4361707"/>
            <a:ext cx="3994995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Aplica la fórmula </a:t>
            </a:r>
            <a:r>
              <a:rPr lang="en-US" sz="2187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xₙ₊₁ = g(xₙ)</a:t>
            </a: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hasta alcanzar la convergencia deseada.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43284" y="6658870"/>
            <a:ext cx="3874741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📊</a:t>
            </a: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Salidas del programa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3284" y="7205215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Genera tabla de iteraciones, cálculo del error y gráfica de evolución.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24220"/>
            <a:ext cx="771599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Funcionamiento General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56202" y="2415330"/>
            <a:ext cx="9575597" cy="5683148"/>
            <a:chOff x="0" y="0"/>
            <a:chExt cx="12767462" cy="757753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767437" cy="7577582"/>
            </a:xfrm>
            <a:custGeom>
              <a:avLst/>
              <a:gdLst/>
              <a:ahLst/>
              <a:cxnLst/>
              <a:rect r="r" b="b" t="t" l="l"/>
              <a:pathLst>
                <a:path h="7577582" w="12767437">
                  <a:moveTo>
                    <a:pt x="0" y="0"/>
                  </a:moveTo>
                  <a:lnTo>
                    <a:pt x="12767437" y="0"/>
                  </a:lnTo>
                  <a:lnTo>
                    <a:pt x="12767437" y="7577582"/>
                  </a:lnTo>
                  <a:lnTo>
                    <a:pt x="0" y="7577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4" r="0" b="-4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020958" y="6761188"/>
            <a:ext cx="238027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Salida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21164" y="6761188"/>
            <a:ext cx="238027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Proceso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72450" y="6761188"/>
            <a:ext cx="2380278" cy="47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Entrada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8322173"/>
            <a:ext cx="16303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usuario define la función </a:t>
            </a:r>
            <a:r>
              <a:rPr lang="en-US" sz="2187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g(x)</a:t>
            </a: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el punto inicial </a:t>
            </a:r>
            <a:r>
              <a:rPr lang="en-US" sz="2187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x₀</a:t>
            </a: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y la tolerancia. El motor iterativo ejecuta el ciclo y devuelve la raíz aproximada junto con la traza completa del proceso.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72758" y="1237955"/>
            <a:ext cx="7232152" cy="8467573"/>
            <a:chOff x="0" y="0"/>
            <a:chExt cx="9642869" cy="112900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42856" cy="11290046"/>
            </a:xfrm>
            <a:custGeom>
              <a:avLst/>
              <a:gdLst/>
              <a:ahLst/>
              <a:cxnLst/>
              <a:rect r="r" b="b" t="t" l="l"/>
              <a:pathLst>
                <a:path h="11290046" w="9642856">
                  <a:moveTo>
                    <a:pt x="254000" y="0"/>
                  </a:moveTo>
                  <a:lnTo>
                    <a:pt x="9388856" y="0"/>
                  </a:lnTo>
                  <a:cubicBezTo>
                    <a:pt x="9456221" y="0"/>
                    <a:pt x="9520827" y="26761"/>
                    <a:pt x="9568462" y="74395"/>
                  </a:cubicBezTo>
                  <a:cubicBezTo>
                    <a:pt x="9616096" y="122029"/>
                    <a:pt x="9642856" y="186635"/>
                    <a:pt x="9642856" y="254000"/>
                  </a:cubicBezTo>
                  <a:lnTo>
                    <a:pt x="9642856" y="11036046"/>
                  </a:lnTo>
                  <a:cubicBezTo>
                    <a:pt x="9642856" y="11176326"/>
                    <a:pt x="9529137" y="11290046"/>
                    <a:pt x="9388856" y="11290046"/>
                  </a:cubicBezTo>
                  <a:lnTo>
                    <a:pt x="254000" y="11290046"/>
                  </a:lnTo>
                  <a:cubicBezTo>
                    <a:pt x="113720" y="11290046"/>
                    <a:pt x="0" y="11176326"/>
                    <a:pt x="0" y="1103604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4"/>
              <a:stretch>
                <a:fillRect l="-54304" t="0" r="-5430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05855" y="3045771"/>
            <a:ext cx="3728142" cy="1162945"/>
            <a:chOff x="0" y="0"/>
            <a:chExt cx="4970856" cy="1550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4945507" cy="1525143"/>
            </a:xfrm>
            <a:custGeom>
              <a:avLst/>
              <a:gdLst/>
              <a:ahLst/>
              <a:cxnLst/>
              <a:rect r="r" b="b" t="t" l="l"/>
              <a:pathLst>
                <a:path h="1525143" w="4945507">
                  <a:moveTo>
                    <a:pt x="0" y="121920"/>
                  </a:moveTo>
                  <a:cubicBezTo>
                    <a:pt x="0" y="54610"/>
                    <a:pt x="55245" y="0"/>
                    <a:pt x="123317" y="0"/>
                  </a:cubicBezTo>
                  <a:lnTo>
                    <a:pt x="4822190" y="0"/>
                  </a:lnTo>
                  <a:cubicBezTo>
                    <a:pt x="4890262" y="0"/>
                    <a:pt x="4945507" y="54610"/>
                    <a:pt x="4945507" y="121920"/>
                  </a:cubicBezTo>
                  <a:lnTo>
                    <a:pt x="4945507" y="1403223"/>
                  </a:lnTo>
                  <a:cubicBezTo>
                    <a:pt x="4945507" y="1470533"/>
                    <a:pt x="4890262" y="1525143"/>
                    <a:pt x="4822190" y="1525143"/>
                  </a:cubicBezTo>
                  <a:lnTo>
                    <a:pt x="123317" y="1525143"/>
                  </a:lnTo>
                  <a:cubicBezTo>
                    <a:pt x="55245" y="1525143"/>
                    <a:pt x="0" y="1470533"/>
                    <a:pt x="0" y="1403223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70907" cy="1550543"/>
            </a:xfrm>
            <a:custGeom>
              <a:avLst/>
              <a:gdLst/>
              <a:ahLst/>
              <a:cxnLst/>
              <a:rect r="r" b="b" t="t" l="l"/>
              <a:pathLst>
                <a:path h="1550543" w="4970907">
                  <a:moveTo>
                    <a:pt x="0" y="134620"/>
                  </a:moveTo>
                  <a:cubicBezTo>
                    <a:pt x="0" y="60198"/>
                    <a:pt x="61087" y="0"/>
                    <a:pt x="136017" y="0"/>
                  </a:cubicBezTo>
                  <a:lnTo>
                    <a:pt x="4834890" y="0"/>
                  </a:lnTo>
                  <a:lnTo>
                    <a:pt x="4834890" y="12700"/>
                  </a:lnTo>
                  <a:lnTo>
                    <a:pt x="4834890" y="0"/>
                  </a:lnTo>
                  <a:cubicBezTo>
                    <a:pt x="4909820" y="0"/>
                    <a:pt x="4970907" y="60198"/>
                    <a:pt x="4970907" y="134620"/>
                  </a:cubicBezTo>
                  <a:lnTo>
                    <a:pt x="4958207" y="134620"/>
                  </a:lnTo>
                  <a:lnTo>
                    <a:pt x="4970907" y="134620"/>
                  </a:lnTo>
                  <a:lnTo>
                    <a:pt x="4970907" y="1415923"/>
                  </a:lnTo>
                  <a:lnTo>
                    <a:pt x="4958207" y="1415923"/>
                  </a:lnTo>
                  <a:lnTo>
                    <a:pt x="4970907" y="1415923"/>
                  </a:lnTo>
                  <a:cubicBezTo>
                    <a:pt x="4970907" y="1490472"/>
                    <a:pt x="4909820" y="1550543"/>
                    <a:pt x="4834890" y="1550543"/>
                  </a:cubicBezTo>
                  <a:lnTo>
                    <a:pt x="4834890" y="1537843"/>
                  </a:lnTo>
                  <a:lnTo>
                    <a:pt x="4834890" y="1550543"/>
                  </a:lnTo>
                  <a:lnTo>
                    <a:pt x="136017" y="1550543"/>
                  </a:lnTo>
                  <a:lnTo>
                    <a:pt x="136017" y="1537843"/>
                  </a:lnTo>
                  <a:lnTo>
                    <a:pt x="136017" y="1550543"/>
                  </a:lnTo>
                  <a:cubicBezTo>
                    <a:pt x="61087" y="1550543"/>
                    <a:pt x="0" y="1490345"/>
                    <a:pt x="0" y="141592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15923"/>
                  </a:lnTo>
                  <a:lnTo>
                    <a:pt x="12700" y="1415923"/>
                  </a:lnTo>
                  <a:lnTo>
                    <a:pt x="25400" y="1415923"/>
                  </a:lnTo>
                  <a:cubicBezTo>
                    <a:pt x="25400" y="1476121"/>
                    <a:pt x="74803" y="1525143"/>
                    <a:pt x="136017" y="1525143"/>
                  </a:cubicBezTo>
                  <a:lnTo>
                    <a:pt x="4834890" y="1525143"/>
                  </a:lnTo>
                  <a:cubicBezTo>
                    <a:pt x="4896104" y="1525143"/>
                    <a:pt x="4945507" y="1476121"/>
                    <a:pt x="4945507" y="1415923"/>
                  </a:cubicBezTo>
                  <a:lnTo>
                    <a:pt x="4945507" y="134620"/>
                  </a:lnTo>
                  <a:cubicBezTo>
                    <a:pt x="4945507" y="74422"/>
                    <a:pt x="4896104" y="25400"/>
                    <a:pt x="4834890" y="25400"/>
                  </a:cubicBezTo>
                  <a:lnTo>
                    <a:pt x="136017" y="25400"/>
                  </a:lnTo>
                  <a:lnTo>
                    <a:pt x="136017" y="12700"/>
                  </a:lnTo>
                  <a:lnTo>
                    <a:pt x="136017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96330" y="3055296"/>
            <a:ext cx="76200" cy="1143895"/>
            <a:chOff x="0" y="0"/>
            <a:chExt cx="101600" cy="15251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" cy="1525143"/>
            </a:xfrm>
            <a:custGeom>
              <a:avLst/>
              <a:gdLst/>
              <a:ahLst/>
              <a:cxnLst/>
              <a:rect r="r" b="b" t="t" l="l"/>
              <a:pathLst>
                <a:path h="152514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474343"/>
                  </a:lnTo>
                  <a:cubicBezTo>
                    <a:pt x="101600" y="1502410"/>
                    <a:pt x="78867" y="1525143"/>
                    <a:pt x="50800" y="1525143"/>
                  </a:cubicBezTo>
                  <a:cubicBezTo>
                    <a:pt x="22733" y="1525143"/>
                    <a:pt x="0" y="1502410"/>
                    <a:pt x="0" y="1474343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05855" y="4284907"/>
            <a:ext cx="3728142" cy="1153420"/>
            <a:chOff x="0" y="0"/>
            <a:chExt cx="4970856" cy="15378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4945380" cy="1512443"/>
            </a:xfrm>
            <a:custGeom>
              <a:avLst/>
              <a:gdLst/>
              <a:ahLst/>
              <a:cxnLst/>
              <a:rect r="r" b="b" t="t" l="l"/>
              <a:pathLst>
                <a:path h="1512443" w="4945380">
                  <a:moveTo>
                    <a:pt x="0" y="121920"/>
                  </a:moveTo>
                  <a:cubicBezTo>
                    <a:pt x="0" y="54610"/>
                    <a:pt x="55245" y="0"/>
                    <a:pt x="123317" y="0"/>
                  </a:cubicBezTo>
                  <a:lnTo>
                    <a:pt x="4822063" y="0"/>
                  </a:lnTo>
                  <a:cubicBezTo>
                    <a:pt x="4890135" y="0"/>
                    <a:pt x="4945380" y="54610"/>
                    <a:pt x="4945380" y="121920"/>
                  </a:cubicBezTo>
                  <a:lnTo>
                    <a:pt x="4945380" y="1390523"/>
                  </a:lnTo>
                  <a:cubicBezTo>
                    <a:pt x="4945380" y="1457833"/>
                    <a:pt x="4890135" y="1512443"/>
                    <a:pt x="4822063" y="1512443"/>
                  </a:cubicBezTo>
                  <a:lnTo>
                    <a:pt x="123317" y="1512443"/>
                  </a:lnTo>
                  <a:cubicBezTo>
                    <a:pt x="55245" y="1512443"/>
                    <a:pt x="0" y="1457833"/>
                    <a:pt x="0" y="1390523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0780" cy="1537843"/>
            </a:xfrm>
            <a:custGeom>
              <a:avLst/>
              <a:gdLst/>
              <a:ahLst/>
              <a:cxnLst/>
              <a:rect r="r" b="b" t="t" l="l"/>
              <a:pathLst>
                <a:path h="1537843" w="4970780">
                  <a:moveTo>
                    <a:pt x="0" y="134620"/>
                  </a:moveTo>
                  <a:cubicBezTo>
                    <a:pt x="0" y="60198"/>
                    <a:pt x="61087" y="0"/>
                    <a:pt x="136017" y="0"/>
                  </a:cubicBezTo>
                  <a:lnTo>
                    <a:pt x="4834763" y="0"/>
                  </a:lnTo>
                  <a:lnTo>
                    <a:pt x="4834763" y="12700"/>
                  </a:lnTo>
                  <a:lnTo>
                    <a:pt x="4834763" y="0"/>
                  </a:lnTo>
                  <a:cubicBezTo>
                    <a:pt x="4909693" y="0"/>
                    <a:pt x="4970780" y="60198"/>
                    <a:pt x="4970780" y="134620"/>
                  </a:cubicBezTo>
                  <a:lnTo>
                    <a:pt x="4958080" y="134620"/>
                  </a:lnTo>
                  <a:lnTo>
                    <a:pt x="4970780" y="134620"/>
                  </a:lnTo>
                  <a:lnTo>
                    <a:pt x="4970780" y="1403223"/>
                  </a:lnTo>
                  <a:lnTo>
                    <a:pt x="4958080" y="1403223"/>
                  </a:lnTo>
                  <a:lnTo>
                    <a:pt x="4970780" y="1403223"/>
                  </a:lnTo>
                  <a:cubicBezTo>
                    <a:pt x="4970780" y="1477772"/>
                    <a:pt x="4909693" y="1537843"/>
                    <a:pt x="4834763" y="1537843"/>
                  </a:cubicBezTo>
                  <a:lnTo>
                    <a:pt x="4834763" y="1525143"/>
                  </a:lnTo>
                  <a:lnTo>
                    <a:pt x="4834763" y="1537843"/>
                  </a:lnTo>
                  <a:lnTo>
                    <a:pt x="136017" y="1537843"/>
                  </a:lnTo>
                  <a:lnTo>
                    <a:pt x="136017" y="1525143"/>
                  </a:lnTo>
                  <a:lnTo>
                    <a:pt x="136017" y="1537843"/>
                  </a:lnTo>
                  <a:cubicBezTo>
                    <a:pt x="61087" y="1537843"/>
                    <a:pt x="0" y="1477645"/>
                    <a:pt x="0" y="140322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03223"/>
                  </a:lnTo>
                  <a:lnTo>
                    <a:pt x="12700" y="1403223"/>
                  </a:lnTo>
                  <a:lnTo>
                    <a:pt x="25400" y="1403223"/>
                  </a:lnTo>
                  <a:cubicBezTo>
                    <a:pt x="25400" y="1463421"/>
                    <a:pt x="74803" y="1512443"/>
                    <a:pt x="136017" y="1512443"/>
                  </a:cubicBezTo>
                  <a:lnTo>
                    <a:pt x="4834763" y="1512443"/>
                  </a:lnTo>
                  <a:cubicBezTo>
                    <a:pt x="4895977" y="1512443"/>
                    <a:pt x="4945380" y="1463421"/>
                    <a:pt x="4945380" y="1403223"/>
                  </a:cubicBezTo>
                  <a:lnTo>
                    <a:pt x="4945380" y="134620"/>
                  </a:lnTo>
                  <a:cubicBezTo>
                    <a:pt x="4945380" y="74422"/>
                    <a:pt x="4895977" y="25400"/>
                    <a:pt x="4834763" y="25400"/>
                  </a:cubicBezTo>
                  <a:lnTo>
                    <a:pt x="136017" y="25400"/>
                  </a:lnTo>
                  <a:lnTo>
                    <a:pt x="136017" y="12700"/>
                  </a:lnTo>
                  <a:lnTo>
                    <a:pt x="136017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96330" y="4294432"/>
            <a:ext cx="76200" cy="1134370"/>
            <a:chOff x="0" y="0"/>
            <a:chExt cx="101600" cy="15124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1512443"/>
            </a:xfrm>
            <a:custGeom>
              <a:avLst/>
              <a:gdLst/>
              <a:ahLst/>
              <a:cxnLst/>
              <a:rect r="r" b="b" t="t" l="l"/>
              <a:pathLst>
                <a:path h="151244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461643"/>
                  </a:lnTo>
                  <a:cubicBezTo>
                    <a:pt x="101600" y="1489710"/>
                    <a:pt x="78867" y="1512443"/>
                    <a:pt x="50800" y="1512443"/>
                  </a:cubicBezTo>
                  <a:cubicBezTo>
                    <a:pt x="22733" y="1512443"/>
                    <a:pt x="0" y="1489710"/>
                    <a:pt x="0" y="1461643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105855" y="5514527"/>
            <a:ext cx="3728142" cy="1153420"/>
            <a:chOff x="0" y="0"/>
            <a:chExt cx="4970856" cy="15378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4945380" cy="1512443"/>
            </a:xfrm>
            <a:custGeom>
              <a:avLst/>
              <a:gdLst/>
              <a:ahLst/>
              <a:cxnLst/>
              <a:rect r="r" b="b" t="t" l="l"/>
              <a:pathLst>
                <a:path h="1512443" w="4945380">
                  <a:moveTo>
                    <a:pt x="0" y="121920"/>
                  </a:moveTo>
                  <a:cubicBezTo>
                    <a:pt x="0" y="54610"/>
                    <a:pt x="55245" y="0"/>
                    <a:pt x="123317" y="0"/>
                  </a:cubicBezTo>
                  <a:lnTo>
                    <a:pt x="4822063" y="0"/>
                  </a:lnTo>
                  <a:cubicBezTo>
                    <a:pt x="4890135" y="0"/>
                    <a:pt x="4945380" y="54610"/>
                    <a:pt x="4945380" y="121920"/>
                  </a:cubicBezTo>
                  <a:lnTo>
                    <a:pt x="4945380" y="1390523"/>
                  </a:lnTo>
                  <a:cubicBezTo>
                    <a:pt x="4945380" y="1457833"/>
                    <a:pt x="4890135" y="1512443"/>
                    <a:pt x="4822063" y="1512443"/>
                  </a:cubicBezTo>
                  <a:lnTo>
                    <a:pt x="123317" y="1512443"/>
                  </a:lnTo>
                  <a:cubicBezTo>
                    <a:pt x="55245" y="1512443"/>
                    <a:pt x="0" y="1457833"/>
                    <a:pt x="0" y="1390523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70780" cy="1537843"/>
            </a:xfrm>
            <a:custGeom>
              <a:avLst/>
              <a:gdLst/>
              <a:ahLst/>
              <a:cxnLst/>
              <a:rect r="r" b="b" t="t" l="l"/>
              <a:pathLst>
                <a:path h="1537843" w="4970780">
                  <a:moveTo>
                    <a:pt x="0" y="134620"/>
                  </a:moveTo>
                  <a:cubicBezTo>
                    <a:pt x="0" y="60198"/>
                    <a:pt x="61087" y="0"/>
                    <a:pt x="136017" y="0"/>
                  </a:cubicBezTo>
                  <a:lnTo>
                    <a:pt x="4834763" y="0"/>
                  </a:lnTo>
                  <a:lnTo>
                    <a:pt x="4834763" y="12700"/>
                  </a:lnTo>
                  <a:lnTo>
                    <a:pt x="4834763" y="0"/>
                  </a:lnTo>
                  <a:cubicBezTo>
                    <a:pt x="4909693" y="0"/>
                    <a:pt x="4970780" y="60198"/>
                    <a:pt x="4970780" y="134620"/>
                  </a:cubicBezTo>
                  <a:lnTo>
                    <a:pt x="4958080" y="134620"/>
                  </a:lnTo>
                  <a:lnTo>
                    <a:pt x="4970780" y="134620"/>
                  </a:lnTo>
                  <a:lnTo>
                    <a:pt x="4970780" y="1403223"/>
                  </a:lnTo>
                  <a:lnTo>
                    <a:pt x="4958080" y="1403223"/>
                  </a:lnTo>
                  <a:lnTo>
                    <a:pt x="4970780" y="1403223"/>
                  </a:lnTo>
                  <a:cubicBezTo>
                    <a:pt x="4970780" y="1477772"/>
                    <a:pt x="4909693" y="1537843"/>
                    <a:pt x="4834763" y="1537843"/>
                  </a:cubicBezTo>
                  <a:lnTo>
                    <a:pt x="4834763" y="1525143"/>
                  </a:lnTo>
                  <a:lnTo>
                    <a:pt x="4834763" y="1537843"/>
                  </a:lnTo>
                  <a:lnTo>
                    <a:pt x="136017" y="1537843"/>
                  </a:lnTo>
                  <a:lnTo>
                    <a:pt x="136017" y="1525143"/>
                  </a:lnTo>
                  <a:lnTo>
                    <a:pt x="136017" y="1537843"/>
                  </a:lnTo>
                  <a:cubicBezTo>
                    <a:pt x="61087" y="1537843"/>
                    <a:pt x="0" y="1477645"/>
                    <a:pt x="0" y="140322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03223"/>
                  </a:lnTo>
                  <a:lnTo>
                    <a:pt x="12700" y="1403223"/>
                  </a:lnTo>
                  <a:lnTo>
                    <a:pt x="25400" y="1403223"/>
                  </a:lnTo>
                  <a:cubicBezTo>
                    <a:pt x="25400" y="1463421"/>
                    <a:pt x="74803" y="1512443"/>
                    <a:pt x="136017" y="1512443"/>
                  </a:cubicBezTo>
                  <a:lnTo>
                    <a:pt x="4834763" y="1512443"/>
                  </a:lnTo>
                  <a:cubicBezTo>
                    <a:pt x="4895977" y="1512443"/>
                    <a:pt x="4945380" y="1463421"/>
                    <a:pt x="4945380" y="1403223"/>
                  </a:cubicBezTo>
                  <a:lnTo>
                    <a:pt x="4945380" y="134620"/>
                  </a:lnTo>
                  <a:cubicBezTo>
                    <a:pt x="4945380" y="74422"/>
                    <a:pt x="4895977" y="25400"/>
                    <a:pt x="4834763" y="25400"/>
                  </a:cubicBezTo>
                  <a:lnTo>
                    <a:pt x="136017" y="25400"/>
                  </a:lnTo>
                  <a:lnTo>
                    <a:pt x="136017" y="12700"/>
                  </a:lnTo>
                  <a:lnTo>
                    <a:pt x="136017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096330" y="5524052"/>
            <a:ext cx="76200" cy="1134370"/>
            <a:chOff x="0" y="0"/>
            <a:chExt cx="101600" cy="15124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600" cy="1512443"/>
            </a:xfrm>
            <a:custGeom>
              <a:avLst/>
              <a:gdLst/>
              <a:ahLst/>
              <a:cxnLst/>
              <a:rect r="r" b="b" t="t" l="l"/>
              <a:pathLst>
                <a:path h="151244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461643"/>
                  </a:lnTo>
                  <a:cubicBezTo>
                    <a:pt x="101600" y="1489710"/>
                    <a:pt x="78867" y="1512443"/>
                    <a:pt x="50800" y="1512443"/>
                  </a:cubicBezTo>
                  <a:cubicBezTo>
                    <a:pt x="22733" y="1512443"/>
                    <a:pt x="0" y="1489710"/>
                    <a:pt x="0" y="1461643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05855" y="6744148"/>
            <a:ext cx="3728142" cy="1153420"/>
            <a:chOff x="0" y="0"/>
            <a:chExt cx="4970856" cy="15378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4945380" cy="1512443"/>
            </a:xfrm>
            <a:custGeom>
              <a:avLst/>
              <a:gdLst/>
              <a:ahLst/>
              <a:cxnLst/>
              <a:rect r="r" b="b" t="t" l="l"/>
              <a:pathLst>
                <a:path h="1512443" w="4945380">
                  <a:moveTo>
                    <a:pt x="0" y="121920"/>
                  </a:moveTo>
                  <a:cubicBezTo>
                    <a:pt x="0" y="54610"/>
                    <a:pt x="55245" y="0"/>
                    <a:pt x="123317" y="0"/>
                  </a:cubicBezTo>
                  <a:lnTo>
                    <a:pt x="4822063" y="0"/>
                  </a:lnTo>
                  <a:cubicBezTo>
                    <a:pt x="4890135" y="0"/>
                    <a:pt x="4945380" y="54610"/>
                    <a:pt x="4945380" y="121920"/>
                  </a:cubicBezTo>
                  <a:lnTo>
                    <a:pt x="4945380" y="1390523"/>
                  </a:lnTo>
                  <a:cubicBezTo>
                    <a:pt x="4945380" y="1457833"/>
                    <a:pt x="4890135" y="1512443"/>
                    <a:pt x="4822063" y="1512443"/>
                  </a:cubicBezTo>
                  <a:lnTo>
                    <a:pt x="123317" y="1512443"/>
                  </a:lnTo>
                  <a:cubicBezTo>
                    <a:pt x="55245" y="1512443"/>
                    <a:pt x="0" y="1457833"/>
                    <a:pt x="0" y="1390523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0780" cy="1537843"/>
            </a:xfrm>
            <a:custGeom>
              <a:avLst/>
              <a:gdLst/>
              <a:ahLst/>
              <a:cxnLst/>
              <a:rect r="r" b="b" t="t" l="l"/>
              <a:pathLst>
                <a:path h="1537843" w="4970780">
                  <a:moveTo>
                    <a:pt x="0" y="134620"/>
                  </a:moveTo>
                  <a:cubicBezTo>
                    <a:pt x="0" y="60198"/>
                    <a:pt x="61087" y="0"/>
                    <a:pt x="136017" y="0"/>
                  </a:cubicBezTo>
                  <a:lnTo>
                    <a:pt x="4834763" y="0"/>
                  </a:lnTo>
                  <a:lnTo>
                    <a:pt x="4834763" y="12700"/>
                  </a:lnTo>
                  <a:lnTo>
                    <a:pt x="4834763" y="0"/>
                  </a:lnTo>
                  <a:cubicBezTo>
                    <a:pt x="4909693" y="0"/>
                    <a:pt x="4970780" y="60198"/>
                    <a:pt x="4970780" y="134620"/>
                  </a:cubicBezTo>
                  <a:lnTo>
                    <a:pt x="4958080" y="134620"/>
                  </a:lnTo>
                  <a:lnTo>
                    <a:pt x="4970780" y="134620"/>
                  </a:lnTo>
                  <a:lnTo>
                    <a:pt x="4970780" y="1403223"/>
                  </a:lnTo>
                  <a:lnTo>
                    <a:pt x="4958080" y="1403223"/>
                  </a:lnTo>
                  <a:lnTo>
                    <a:pt x="4970780" y="1403223"/>
                  </a:lnTo>
                  <a:cubicBezTo>
                    <a:pt x="4970780" y="1477772"/>
                    <a:pt x="4909693" y="1537843"/>
                    <a:pt x="4834763" y="1537843"/>
                  </a:cubicBezTo>
                  <a:lnTo>
                    <a:pt x="4834763" y="1525143"/>
                  </a:lnTo>
                  <a:lnTo>
                    <a:pt x="4834763" y="1537843"/>
                  </a:lnTo>
                  <a:lnTo>
                    <a:pt x="136017" y="1537843"/>
                  </a:lnTo>
                  <a:lnTo>
                    <a:pt x="136017" y="1525143"/>
                  </a:lnTo>
                  <a:lnTo>
                    <a:pt x="136017" y="1537843"/>
                  </a:lnTo>
                  <a:cubicBezTo>
                    <a:pt x="61087" y="1537843"/>
                    <a:pt x="0" y="1477645"/>
                    <a:pt x="0" y="140322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03223"/>
                  </a:lnTo>
                  <a:lnTo>
                    <a:pt x="12700" y="1403223"/>
                  </a:lnTo>
                  <a:lnTo>
                    <a:pt x="25400" y="1403223"/>
                  </a:lnTo>
                  <a:cubicBezTo>
                    <a:pt x="25400" y="1463421"/>
                    <a:pt x="74803" y="1512443"/>
                    <a:pt x="136017" y="1512443"/>
                  </a:cubicBezTo>
                  <a:lnTo>
                    <a:pt x="4834763" y="1512443"/>
                  </a:lnTo>
                  <a:cubicBezTo>
                    <a:pt x="4895977" y="1512443"/>
                    <a:pt x="4945380" y="1463421"/>
                    <a:pt x="4945380" y="1403223"/>
                  </a:cubicBezTo>
                  <a:lnTo>
                    <a:pt x="4945380" y="134620"/>
                  </a:lnTo>
                  <a:cubicBezTo>
                    <a:pt x="4945380" y="74422"/>
                    <a:pt x="4895977" y="25400"/>
                    <a:pt x="4834763" y="25400"/>
                  </a:cubicBezTo>
                  <a:lnTo>
                    <a:pt x="136017" y="25400"/>
                  </a:lnTo>
                  <a:lnTo>
                    <a:pt x="136017" y="12700"/>
                  </a:lnTo>
                  <a:lnTo>
                    <a:pt x="136017" y="25400"/>
                  </a:lnTo>
                  <a:cubicBezTo>
                    <a:pt x="74803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96330" y="6753673"/>
            <a:ext cx="76200" cy="1134370"/>
            <a:chOff x="0" y="0"/>
            <a:chExt cx="101600" cy="15124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600" cy="1512443"/>
            </a:xfrm>
            <a:custGeom>
              <a:avLst/>
              <a:gdLst/>
              <a:ahLst/>
              <a:cxnLst/>
              <a:rect r="r" b="b" t="t" l="l"/>
              <a:pathLst>
                <a:path h="151244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461643"/>
                  </a:lnTo>
                  <a:cubicBezTo>
                    <a:pt x="101600" y="1489710"/>
                    <a:pt x="78867" y="1512443"/>
                    <a:pt x="50800" y="1512443"/>
                  </a:cubicBezTo>
                  <a:cubicBezTo>
                    <a:pt x="22733" y="1512443"/>
                    <a:pt x="0" y="1489710"/>
                    <a:pt x="0" y="1461643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472758" y="445741"/>
            <a:ext cx="4842424" cy="54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Arquitectura del Programa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55886" y="3210077"/>
            <a:ext cx="2068411" cy="28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🧮</a:t>
            </a:r>
            <a:r>
              <a:rPr lang="en-US" sz="1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Lógica matemática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55886" y="3571723"/>
            <a:ext cx="3285230" cy="44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24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Función punto_fijo() — núcleo del algoritmo iterativo.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55886" y="4449213"/>
            <a:ext cx="2054723" cy="28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⚙️</a:t>
            </a:r>
            <a:r>
              <a:rPr lang="en-US" sz="1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Preprocesamiento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55886" y="4810868"/>
            <a:ext cx="3285230" cy="43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24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Adaptación de expresiones del usuario a sintaxis Python válida.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55886" y="5678834"/>
            <a:ext cx="2054723" cy="28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🖥️</a:t>
            </a:r>
            <a:r>
              <a:rPr lang="en-US" sz="1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Interfaz gráfica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55886" y="6040488"/>
            <a:ext cx="3285230" cy="43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249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Tkinter</a:t>
            </a:r>
            <a:r>
              <a:rPr lang="en-US" sz="124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entradas, botones y tabla de resultados.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55886" y="6908454"/>
            <a:ext cx="2054723" cy="28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📈</a:t>
            </a:r>
            <a:r>
              <a:rPr lang="en-US" sz="1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Visualización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55886" y="7270109"/>
            <a:ext cx="3285230" cy="43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249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Matplotlib</a:t>
            </a:r>
            <a:r>
              <a:rPr lang="en-US" sz="124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— gráfica de convergencia y de error.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89114"/>
            <a:ext cx="10210352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Preprocesamiento de Funciones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93334"/>
            <a:ext cx="421719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Conversiones automáticas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3378994"/>
            <a:ext cx="3770709" cy="2229298"/>
            <a:chOff x="0" y="0"/>
            <a:chExt cx="5027612" cy="29723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5014849" cy="2959608"/>
            </a:xfrm>
            <a:custGeom>
              <a:avLst/>
              <a:gdLst/>
              <a:ahLst/>
              <a:cxnLst/>
              <a:rect r="r" b="b" t="t" l="l"/>
              <a:pathLst>
                <a:path h="2959608" w="5014849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4855845" y="0"/>
                  </a:lnTo>
                  <a:cubicBezTo>
                    <a:pt x="4943729" y="0"/>
                    <a:pt x="5014849" y="71120"/>
                    <a:pt x="5014849" y="158750"/>
                  </a:cubicBezTo>
                  <a:lnTo>
                    <a:pt x="5014849" y="2800858"/>
                  </a:lnTo>
                  <a:cubicBezTo>
                    <a:pt x="5014849" y="2888615"/>
                    <a:pt x="4943602" y="2959608"/>
                    <a:pt x="4855845" y="2959608"/>
                  </a:cubicBezTo>
                  <a:lnTo>
                    <a:pt x="159004" y="2959608"/>
                  </a:lnTo>
                  <a:cubicBezTo>
                    <a:pt x="71120" y="2959608"/>
                    <a:pt x="0" y="2888488"/>
                    <a:pt x="0" y="2800858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7549" cy="2972308"/>
            </a:xfrm>
            <a:custGeom>
              <a:avLst/>
              <a:gdLst/>
              <a:ahLst/>
              <a:cxnLst/>
              <a:rect r="r" b="b" t="t" l="l"/>
              <a:pathLst>
                <a:path h="2972308" w="5027549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4862195" y="0"/>
                  </a:lnTo>
                  <a:lnTo>
                    <a:pt x="4862195" y="6350"/>
                  </a:lnTo>
                  <a:lnTo>
                    <a:pt x="4862195" y="0"/>
                  </a:lnTo>
                  <a:cubicBezTo>
                    <a:pt x="4953508" y="0"/>
                    <a:pt x="5027549" y="73914"/>
                    <a:pt x="5027549" y="165100"/>
                  </a:cubicBezTo>
                  <a:lnTo>
                    <a:pt x="5021199" y="165100"/>
                  </a:lnTo>
                  <a:lnTo>
                    <a:pt x="5027549" y="165100"/>
                  </a:lnTo>
                  <a:lnTo>
                    <a:pt x="5027549" y="2807208"/>
                  </a:lnTo>
                  <a:lnTo>
                    <a:pt x="5021199" y="2807208"/>
                  </a:lnTo>
                  <a:lnTo>
                    <a:pt x="5027549" y="2807208"/>
                  </a:lnTo>
                  <a:cubicBezTo>
                    <a:pt x="5027549" y="2898394"/>
                    <a:pt x="4953508" y="2972308"/>
                    <a:pt x="4862195" y="2972308"/>
                  </a:cubicBezTo>
                  <a:lnTo>
                    <a:pt x="4862195" y="2965958"/>
                  </a:lnTo>
                  <a:lnTo>
                    <a:pt x="4862195" y="2972308"/>
                  </a:lnTo>
                  <a:lnTo>
                    <a:pt x="165354" y="2972308"/>
                  </a:lnTo>
                  <a:lnTo>
                    <a:pt x="165354" y="2965958"/>
                  </a:lnTo>
                  <a:lnTo>
                    <a:pt x="165354" y="2972308"/>
                  </a:lnTo>
                  <a:cubicBezTo>
                    <a:pt x="74041" y="2972308"/>
                    <a:pt x="0" y="2898394"/>
                    <a:pt x="0" y="280720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807208"/>
                  </a:lnTo>
                  <a:lnTo>
                    <a:pt x="6350" y="2807208"/>
                  </a:lnTo>
                  <a:lnTo>
                    <a:pt x="12700" y="2807208"/>
                  </a:lnTo>
                  <a:cubicBezTo>
                    <a:pt x="12700" y="2891409"/>
                    <a:pt x="81026" y="2959608"/>
                    <a:pt x="165354" y="2959608"/>
                  </a:cubicBezTo>
                  <a:lnTo>
                    <a:pt x="4862195" y="2959608"/>
                  </a:lnTo>
                  <a:cubicBezTo>
                    <a:pt x="4946523" y="2959608"/>
                    <a:pt x="5014849" y="2891409"/>
                    <a:pt x="5014849" y="2807208"/>
                  </a:cubicBezTo>
                  <a:lnTo>
                    <a:pt x="5014849" y="165100"/>
                  </a:lnTo>
                  <a:cubicBezTo>
                    <a:pt x="5014849" y="80899"/>
                    <a:pt x="4946523" y="12700"/>
                    <a:pt x="486219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284" y="3648227"/>
            <a:ext cx="317510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e^x → exp(x)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284" y="4307977"/>
            <a:ext cx="317510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Notación matemática a Python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32172" y="3378994"/>
            <a:ext cx="3770709" cy="2229298"/>
            <a:chOff x="0" y="0"/>
            <a:chExt cx="5027612" cy="29723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5014849" cy="2959608"/>
            </a:xfrm>
            <a:custGeom>
              <a:avLst/>
              <a:gdLst/>
              <a:ahLst/>
              <a:cxnLst/>
              <a:rect r="r" b="b" t="t" l="l"/>
              <a:pathLst>
                <a:path h="2959608" w="5014849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4855845" y="0"/>
                  </a:lnTo>
                  <a:cubicBezTo>
                    <a:pt x="4943729" y="0"/>
                    <a:pt x="5014849" y="71120"/>
                    <a:pt x="5014849" y="158750"/>
                  </a:cubicBezTo>
                  <a:lnTo>
                    <a:pt x="5014849" y="2800858"/>
                  </a:lnTo>
                  <a:cubicBezTo>
                    <a:pt x="5014849" y="2888615"/>
                    <a:pt x="4943602" y="2959608"/>
                    <a:pt x="4855845" y="2959608"/>
                  </a:cubicBezTo>
                  <a:lnTo>
                    <a:pt x="159004" y="2959608"/>
                  </a:lnTo>
                  <a:cubicBezTo>
                    <a:pt x="71120" y="2959608"/>
                    <a:pt x="0" y="2888488"/>
                    <a:pt x="0" y="2800858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7549" cy="2972308"/>
            </a:xfrm>
            <a:custGeom>
              <a:avLst/>
              <a:gdLst/>
              <a:ahLst/>
              <a:cxnLst/>
              <a:rect r="r" b="b" t="t" l="l"/>
              <a:pathLst>
                <a:path h="2972308" w="5027549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4862195" y="0"/>
                  </a:lnTo>
                  <a:lnTo>
                    <a:pt x="4862195" y="6350"/>
                  </a:lnTo>
                  <a:lnTo>
                    <a:pt x="4862195" y="0"/>
                  </a:lnTo>
                  <a:cubicBezTo>
                    <a:pt x="4953508" y="0"/>
                    <a:pt x="5027549" y="73914"/>
                    <a:pt x="5027549" y="165100"/>
                  </a:cubicBezTo>
                  <a:lnTo>
                    <a:pt x="5021199" y="165100"/>
                  </a:lnTo>
                  <a:lnTo>
                    <a:pt x="5027549" y="165100"/>
                  </a:lnTo>
                  <a:lnTo>
                    <a:pt x="5027549" y="2807208"/>
                  </a:lnTo>
                  <a:lnTo>
                    <a:pt x="5021199" y="2807208"/>
                  </a:lnTo>
                  <a:lnTo>
                    <a:pt x="5027549" y="2807208"/>
                  </a:lnTo>
                  <a:cubicBezTo>
                    <a:pt x="5027549" y="2898394"/>
                    <a:pt x="4953508" y="2972308"/>
                    <a:pt x="4862195" y="2972308"/>
                  </a:cubicBezTo>
                  <a:lnTo>
                    <a:pt x="4862195" y="2965958"/>
                  </a:lnTo>
                  <a:lnTo>
                    <a:pt x="4862195" y="2972308"/>
                  </a:lnTo>
                  <a:lnTo>
                    <a:pt x="165354" y="2972308"/>
                  </a:lnTo>
                  <a:lnTo>
                    <a:pt x="165354" y="2965958"/>
                  </a:lnTo>
                  <a:lnTo>
                    <a:pt x="165354" y="2972308"/>
                  </a:lnTo>
                  <a:cubicBezTo>
                    <a:pt x="74041" y="2972308"/>
                    <a:pt x="0" y="2898394"/>
                    <a:pt x="0" y="280720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807208"/>
                  </a:lnTo>
                  <a:lnTo>
                    <a:pt x="6350" y="2807208"/>
                  </a:lnTo>
                  <a:lnTo>
                    <a:pt x="12700" y="2807208"/>
                  </a:lnTo>
                  <a:cubicBezTo>
                    <a:pt x="12700" y="2891409"/>
                    <a:pt x="81026" y="2959608"/>
                    <a:pt x="165354" y="2959608"/>
                  </a:cubicBezTo>
                  <a:lnTo>
                    <a:pt x="4862195" y="2959608"/>
                  </a:lnTo>
                  <a:cubicBezTo>
                    <a:pt x="4946523" y="2959608"/>
                    <a:pt x="5014849" y="2891409"/>
                    <a:pt x="5014849" y="2807208"/>
                  </a:cubicBezTo>
                  <a:lnTo>
                    <a:pt x="5014849" y="165100"/>
                  </a:lnTo>
                  <a:cubicBezTo>
                    <a:pt x="5014849" y="80899"/>
                    <a:pt x="4946523" y="12700"/>
                    <a:pt x="486219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329980" y="3648227"/>
            <a:ext cx="317510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x^2 → x**2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29980" y="4307977"/>
            <a:ext cx="317510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Potencias estándar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7476" y="5882278"/>
            <a:ext cx="7815415" cy="1775670"/>
            <a:chOff x="0" y="0"/>
            <a:chExt cx="10420553" cy="2367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0407904" cy="2354834"/>
            </a:xfrm>
            <a:custGeom>
              <a:avLst/>
              <a:gdLst/>
              <a:ahLst/>
              <a:cxnLst/>
              <a:rect r="r" b="b" t="t" l="l"/>
              <a:pathLst>
                <a:path h="2354834" w="10407904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248392" y="0"/>
                  </a:lnTo>
                  <a:cubicBezTo>
                    <a:pt x="10336403" y="0"/>
                    <a:pt x="10407904" y="71120"/>
                    <a:pt x="10407904" y="158750"/>
                  </a:cubicBezTo>
                  <a:lnTo>
                    <a:pt x="10407904" y="2196084"/>
                  </a:lnTo>
                  <a:cubicBezTo>
                    <a:pt x="10407904" y="2283841"/>
                    <a:pt x="10336530" y="2354834"/>
                    <a:pt x="10248392" y="2354834"/>
                  </a:cubicBezTo>
                  <a:lnTo>
                    <a:pt x="159512" y="2354834"/>
                  </a:lnTo>
                  <a:cubicBezTo>
                    <a:pt x="71501" y="2354834"/>
                    <a:pt x="0" y="2283714"/>
                    <a:pt x="0" y="2196084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20604" cy="2367534"/>
            </a:xfrm>
            <a:custGeom>
              <a:avLst/>
              <a:gdLst/>
              <a:ahLst/>
              <a:cxnLst/>
              <a:rect r="r" b="b" t="t" l="l"/>
              <a:pathLst>
                <a:path h="2367534" w="10420604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254742" y="0"/>
                  </a:lnTo>
                  <a:lnTo>
                    <a:pt x="10254742" y="6350"/>
                  </a:lnTo>
                  <a:lnTo>
                    <a:pt x="10254742" y="0"/>
                  </a:lnTo>
                  <a:cubicBezTo>
                    <a:pt x="10346310" y="0"/>
                    <a:pt x="10420604" y="73914"/>
                    <a:pt x="10420604" y="165100"/>
                  </a:cubicBezTo>
                  <a:lnTo>
                    <a:pt x="10414254" y="165100"/>
                  </a:lnTo>
                  <a:lnTo>
                    <a:pt x="10420604" y="165100"/>
                  </a:lnTo>
                  <a:lnTo>
                    <a:pt x="10420604" y="2202434"/>
                  </a:lnTo>
                  <a:lnTo>
                    <a:pt x="10414254" y="2202434"/>
                  </a:lnTo>
                  <a:lnTo>
                    <a:pt x="10420604" y="2202434"/>
                  </a:lnTo>
                  <a:cubicBezTo>
                    <a:pt x="10420604" y="2293620"/>
                    <a:pt x="10346310" y="2367534"/>
                    <a:pt x="10254742" y="2367534"/>
                  </a:cubicBezTo>
                  <a:lnTo>
                    <a:pt x="10254742" y="2361184"/>
                  </a:lnTo>
                  <a:lnTo>
                    <a:pt x="10254742" y="2367534"/>
                  </a:lnTo>
                  <a:lnTo>
                    <a:pt x="165862" y="2367534"/>
                  </a:lnTo>
                  <a:lnTo>
                    <a:pt x="165862" y="2361184"/>
                  </a:lnTo>
                  <a:lnTo>
                    <a:pt x="165862" y="2367534"/>
                  </a:lnTo>
                  <a:cubicBezTo>
                    <a:pt x="74295" y="2367534"/>
                    <a:pt x="0" y="2293620"/>
                    <a:pt x="0" y="220243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02434"/>
                  </a:lnTo>
                  <a:lnTo>
                    <a:pt x="6350" y="2202434"/>
                  </a:lnTo>
                  <a:lnTo>
                    <a:pt x="12700" y="2202434"/>
                  </a:lnTo>
                  <a:cubicBezTo>
                    <a:pt x="12700" y="2286635"/>
                    <a:pt x="81280" y="2354834"/>
                    <a:pt x="165862" y="2354834"/>
                  </a:cubicBezTo>
                  <a:lnTo>
                    <a:pt x="10254742" y="2354834"/>
                  </a:lnTo>
                  <a:cubicBezTo>
                    <a:pt x="10339324" y="2354834"/>
                    <a:pt x="10407904" y="2286508"/>
                    <a:pt x="10407904" y="2202434"/>
                  </a:cubicBezTo>
                  <a:lnTo>
                    <a:pt x="10407904" y="165100"/>
                  </a:lnTo>
                  <a:cubicBezTo>
                    <a:pt x="10407904" y="80899"/>
                    <a:pt x="10339324" y="12700"/>
                    <a:pt x="10254742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85284" y="6151512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sen → sin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284" y="6811270"/>
            <a:ext cx="721979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Funciones trigonométricas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7876880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Módulo re (expresiones regulares) para transformaciones automáticas.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95209" y="2338388"/>
            <a:ext cx="8214274" cy="6921256"/>
            <a:chOff x="0" y="0"/>
            <a:chExt cx="10952366" cy="92283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52353" cy="9228328"/>
            </a:xfrm>
            <a:custGeom>
              <a:avLst/>
              <a:gdLst/>
              <a:ahLst/>
              <a:cxnLst/>
              <a:rect r="r" b="b" t="t" l="l"/>
              <a:pathLst>
                <a:path h="9228328" w="10952353">
                  <a:moveTo>
                    <a:pt x="0" y="272288"/>
                  </a:moveTo>
                  <a:cubicBezTo>
                    <a:pt x="0" y="121920"/>
                    <a:pt x="121920" y="0"/>
                    <a:pt x="272288" y="0"/>
                  </a:cubicBezTo>
                  <a:lnTo>
                    <a:pt x="10680065" y="0"/>
                  </a:lnTo>
                  <a:cubicBezTo>
                    <a:pt x="10830433" y="0"/>
                    <a:pt x="10952353" y="121920"/>
                    <a:pt x="10952353" y="272288"/>
                  </a:cubicBezTo>
                  <a:lnTo>
                    <a:pt x="10952353" y="8956040"/>
                  </a:lnTo>
                  <a:cubicBezTo>
                    <a:pt x="10952353" y="9106408"/>
                    <a:pt x="10830433" y="9228328"/>
                    <a:pt x="10680065" y="9228328"/>
                  </a:cubicBezTo>
                  <a:lnTo>
                    <a:pt x="272288" y="9228328"/>
                  </a:lnTo>
                  <a:cubicBezTo>
                    <a:pt x="121920" y="9228328"/>
                    <a:pt x="0" y="9106408"/>
                    <a:pt x="0" y="8956040"/>
                  </a:cubicBezTo>
                  <a:close/>
                </a:path>
              </a:pathLst>
            </a:custGeom>
            <a:solidFill>
              <a:srgbClr val="000030">
                <a:alpha val="90196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578731" y="2593334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Fragmento clave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78731" y="3383756"/>
            <a:ext cx="7647232" cy="5556942"/>
            <a:chOff x="0" y="0"/>
            <a:chExt cx="10196309" cy="74092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96322" cy="7409180"/>
            </a:xfrm>
            <a:custGeom>
              <a:avLst/>
              <a:gdLst/>
              <a:ahLst/>
              <a:cxnLst/>
              <a:rect r="r" b="b" t="t" l="l"/>
              <a:pathLst>
                <a:path h="7409180" w="1019632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037572" y="0"/>
                  </a:lnTo>
                  <a:cubicBezTo>
                    <a:pt x="10125202" y="0"/>
                    <a:pt x="10196322" y="71120"/>
                    <a:pt x="10196322" y="158750"/>
                  </a:cubicBezTo>
                  <a:lnTo>
                    <a:pt x="10196322" y="7250430"/>
                  </a:lnTo>
                  <a:cubicBezTo>
                    <a:pt x="10196322" y="7338061"/>
                    <a:pt x="10125202" y="7409180"/>
                    <a:pt x="10037572" y="7409180"/>
                  </a:cubicBezTo>
                  <a:lnTo>
                    <a:pt x="158750" y="7409180"/>
                  </a:lnTo>
                  <a:cubicBezTo>
                    <a:pt x="71120" y="7409180"/>
                    <a:pt x="0" y="7338061"/>
                    <a:pt x="0" y="7250430"/>
                  </a:cubicBezTo>
                  <a:close/>
                </a:path>
              </a:pathLst>
            </a:custGeom>
            <a:solidFill>
              <a:srgbClr val="0D0D3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64586" y="3383756"/>
            <a:ext cx="7675512" cy="5556942"/>
            <a:chOff x="0" y="0"/>
            <a:chExt cx="10234016" cy="74092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33914" cy="7409180"/>
            </a:xfrm>
            <a:custGeom>
              <a:avLst/>
              <a:gdLst/>
              <a:ahLst/>
              <a:cxnLst/>
              <a:rect r="r" b="b" t="t" l="l"/>
              <a:pathLst>
                <a:path h="7409180" w="1023391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177273" y="0"/>
                  </a:lnTo>
                  <a:cubicBezTo>
                    <a:pt x="10208514" y="0"/>
                    <a:pt x="10233914" y="25400"/>
                    <a:pt x="10233914" y="56642"/>
                  </a:cubicBezTo>
                  <a:lnTo>
                    <a:pt x="10233914" y="7352538"/>
                  </a:lnTo>
                  <a:cubicBezTo>
                    <a:pt x="10233914" y="7383780"/>
                    <a:pt x="10208514" y="7409180"/>
                    <a:pt x="10177273" y="7409180"/>
                  </a:cubicBezTo>
                  <a:lnTo>
                    <a:pt x="56642" y="7409180"/>
                  </a:lnTo>
                  <a:cubicBezTo>
                    <a:pt x="25400" y="7409180"/>
                    <a:pt x="0" y="7383780"/>
                    <a:pt x="0" y="7352538"/>
                  </a:cubicBezTo>
                  <a:close/>
                </a:path>
              </a:pathLst>
            </a:custGeom>
            <a:solidFill>
              <a:srgbClr val="0D0D3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918944" y="3533927"/>
            <a:ext cx="6966795" cy="512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import re</a:t>
            </a:r>
          </a:p>
          <a:p>
            <a:pPr algn="l">
              <a:lnSpc>
                <a:spcPts val="3562"/>
              </a:lnSpc>
            </a:pP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def preprocesar(expr):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expr = re.sub(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r'e\^([^\s]+)',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r'exp(\1)', expr)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expr = expr.replace(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'^', '**')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expr = expr.replace(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'sen', 'sin')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return expr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3121" y="977656"/>
            <a:ext cx="8660311" cy="87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Función Principal: </a:t>
            </a:r>
            <a:r>
              <a:rPr lang="en-US" sz="4999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punto_fijo()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09460" y="2195665"/>
            <a:ext cx="8306991" cy="7084962"/>
            <a:chOff x="0" y="0"/>
            <a:chExt cx="11075988" cy="9446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76051" cy="9446640"/>
            </a:xfrm>
            <a:custGeom>
              <a:avLst/>
              <a:gdLst/>
              <a:ahLst/>
              <a:cxnLst/>
              <a:rect r="r" b="b" t="t" l="l"/>
              <a:pathLst>
                <a:path h="9446640" w="11076051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10831068" y="0"/>
                  </a:lnTo>
                  <a:cubicBezTo>
                    <a:pt x="10966324" y="0"/>
                    <a:pt x="11076051" y="109728"/>
                    <a:pt x="11076051" y="244983"/>
                  </a:cubicBezTo>
                  <a:lnTo>
                    <a:pt x="11076051" y="9201658"/>
                  </a:lnTo>
                  <a:cubicBezTo>
                    <a:pt x="11076051" y="9336913"/>
                    <a:pt x="10966324" y="9446640"/>
                    <a:pt x="10831068" y="9446640"/>
                  </a:cubicBezTo>
                  <a:lnTo>
                    <a:pt x="244983" y="9446640"/>
                  </a:lnTo>
                  <a:cubicBezTo>
                    <a:pt x="109728" y="9446641"/>
                    <a:pt x="0" y="9336913"/>
                    <a:pt x="0" y="9201658"/>
                  </a:cubicBezTo>
                  <a:close/>
                </a:path>
              </a:pathLst>
            </a:custGeom>
            <a:solidFill>
              <a:srgbClr val="000030">
                <a:alpha val="90196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4559" y="2406253"/>
            <a:ext cx="3189684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Implementación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64559" y="3082233"/>
            <a:ext cx="7796803" cy="5940028"/>
            <a:chOff x="0" y="0"/>
            <a:chExt cx="10395737" cy="7920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95712" cy="7919974"/>
            </a:xfrm>
            <a:custGeom>
              <a:avLst/>
              <a:gdLst/>
              <a:ahLst/>
              <a:cxnLst/>
              <a:rect r="r" b="b" t="t" l="l"/>
              <a:pathLst>
                <a:path h="7919974" w="10395712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10252837" y="0"/>
                  </a:lnTo>
                  <a:cubicBezTo>
                    <a:pt x="10331704" y="0"/>
                    <a:pt x="10395712" y="64008"/>
                    <a:pt x="10395712" y="142875"/>
                  </a:cubicBezTo>
                  <a:lnTo>
                    <a:pt x="10395712" y="7777099"/>
                  </a:lnTo>
                  <a:cubicBezTo>
                    <a:pt x="10395712" y="7855966"/>
                    <a:pt x="10331704" y="7919974"/>
                    <a:pt x="10252837" y="7919974"/>
                  </a:cubicBezTo>
                  <a:lnTo>
                    <a:pt x="142875" y="7919974"/>
                  </a:lnTo>
                  <a:cubicBezTo>
                    <a:pt x="64008" y="7920101"/>
                    <a:pt x="0" y="7856093"/>
                    <a:pt x="0" y="7777099"/>
                  </a:cubicBezTo>
                  <a:close/>
                </a:path>
              </a:pathLst>
            </a:custGeom>
            <a:solidFill>
              <a:srgbClr val="0D0D3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1909" y="3082233"/>
            <a:ext cx="7822111" cy="5940028"/>
            <a:chOff x="0" y="0"/>
            <a:chExt cx="10429481" cy="79200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29494" cy="7920101"/>
            </a:xfrm>
            <a:custGeom>
              <a:avLst/>
              <a:gdLst/>
              <a:ahLst/>
              <a:cxnLst/>
              <a:rect r="r" b="b" t="t" l="l"/>
              <a:pathLst>
                <a:path h="7920101" w="10429494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10378440" y="0"/>
                  </a:lnTo>
                  <a:cubicBezTo>
                    <a:pt x="10406634" y="0"/>
                    <a:pt x="10429494" y="22860"/>
                    <a:pt x="10429494" y="51054"/>
                  </a:cubicBezTo>
                  <a:lnTo>
                    <a:pt x="10429494" y="7869047"/>
                  </a:lnTo>
                  <a:cubicBezTo>
                    <a:pt x="10429494" y="7897240"/>
                    <a:pt x="10406634" y="7920101"/>
                    <a:pt x="10378440" y="7920101"/>
                  </a:cubicBezTo>
                  <a:lnTo>
                    <a:pt x="51054" y="7920101"/>
                  </a:lnTo>
                  <a:cubicBezTo>
                    <a:pt x="22860" y="7920101"/>
                    <a:pt x="0" y="7897240"/>
                    <a:pt x="0" y="7869047"/>
                  </a:cubicBezTo>
                  <a:close/>
                </a:path>
              </a:pathLst>
            </a:custGeom>
            <a:solidFill>
              <a:srgbClr val="0D0D3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0845" y="3232547"/>
            <a:ext cx="7184231" cy="553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def punto_fijo(g, x0, tol,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       max_iter=100):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x = x0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resultados = []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for i in range(max_iter):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gx = eval(g, {"x": x,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**math_ns})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error = abs((gx-x)/gx)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resultados.append(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  (i+1, x, gx, error))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if error &lt;= tol: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    break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    x = gx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Consolas"/>
                <a:ea typeface="Consolas"/>
                <a:cs typeface="Consolas"/>
                <a:sym typeface="Consolas"/>
              </a:rPr>
              <a:t>    return x, resultados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4726" y="2406253"/>
            <a:ext cx="3189684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del bucle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560423" y="3094806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6" t="0" r="-731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93848" y="3006033"/>
            <a:ext cx="7110565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Evalúa </a:t>
            </a:r>
            <a:r>
              <a:rPr lang="en-US" sz="20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g(xₙ)</a:t>
            </a: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en cada iteración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560423" y="433216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6" t="0" r="-7318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93848" y="4243388"/>
            <a:ext cx="7110565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Calcula el error relativo entre xₙ y g(xₙ)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560423" y="5569525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6" t="0" r="-7318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93848" y="5480742"/>
            <a:ext cx="7110565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Detiene si </a:t>
            </a:r>
            <a:r>
              <a:rPr lang="en-US" sz="20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error ≤ tolerancia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560423" y="680687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6" t="0" r="-7318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93848" y="6718097"/>
            <a:ext cx="7110565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Guarda toda la traza de resultados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64726" y="7830741"/>
            <a:ext cx="7939678" cy="1015308"/>
            <a:chOff x="0" y="0"/>
            <a:chExt cx="10586237" cy="13537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86212" cy="1353693"/>
            </a:xfrm>
            <a:custGeom>
              <a:avLst/>
              <a:gdLst/>
              <a:ahLst/>
              <a:cxnLst/>
              <a:rect r="r" b="b" t="t" l="l"/>
              <a:pathLst>
                <a:path h="1353693" w="10586212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10443337" y="0"/>
                  </a:lnTo>
                  <a:cubicBezTo>
                    <a:pt x="10522204" y="0"/>
                    <a:pt x="10586212" y="64008"/>
                    <a:pt x="10586212" y="142875"/>
                  </a:cubicBezTo>
                  <a:lnTo>
                    <a:pt x="10586212" y="1210818"/>
                  </a:lnTo>
                  <a:cubicBezTo>
                    <a:pt x="10586212" y="1289685"/>
                    <a:pt x="10522204" y="1353693"/>
                    <a:pt x="10443337" y="1353693"/>
                  </a:cubicBezTo>
                  <a:lnTo>
                    <a:pt x="142875" y="1353693"/>
                  </a:lnTo>
                  <a:cubicBezTo>
                    <a:pt x="64008" y="1353693"/>
                    <a:pt x="0" y="1289812"/>
                    <a:pt x="0" y="1210818"/>
                  </a:cubicBezTo>
                  <a:close/>
                </a:path>
              </a:pathLst>
            </a:custGeom>
            <a:solidFill>
              <a:srgbClr val="0F163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19815" y="8202511"/>
            <a:ext cx="318935" cy="255089"/>
            <a:chOff x="0" y="0"/>
            <a:chExt cx="425247" cy="340119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25196" cy="340106"/>
            </a:xfrm>
            <a:custGeom>
              <a:avLst/>
              <a:gdLst/>
              <a:ahLst/>
              <a:cxnLst/>
              <a:rect r="r" b="b" t="t" l="l"/>
              <a:pathLst>
                <a:path h="340106" w="425196">
                  <a:moveTo>
                    <a:pt x="0" y="0"/>
                  </a:moveTo>
                  <a:lnTo>
                    <a:pt x="425196" y="0"/>
                  </a:lnTo>
                  <a:lnTo>
                    <a:pt x="425196" y="340106"/>
                  </a:lnTo>
                  <a:lnTo>
                    <a:pt x="0" y="340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50" r="-11" b="-115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93848" y="8047882"/>
            <a:ext cx="6855466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Máximo de iteraciones como salvaguarda ante divergencia.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8039"/>
            <a:ext cx="10267207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Cálculo del Error y Convergencia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602259"/>
            <a:ext cx="398531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Fórmula del error relativo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432572"/>
            <a:ext cx="7805890" cy="926306"/>
            <a:chOff x="0" y="0"/>
            <a:chExt cx="10407853" cy="123507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407904" cy="1235075"/>
            </a:xfrm>
            <a:custGeom>
              <a:avLst/>
              <a:gdLst/>
              <a:ahLst/>
              <a:cxnLst/>
              <a:rect r="r" b="b" t="t" l="l"/>
              <a:pathLst>
                <a:path h="1235075" w="10407904">
                  <a:moveTo>
                    <a:pt x="0" y="0"/>
                  </a:moveTo>
                  <a:lnTo>
                    <a:pt x="10407904" y="0"/>
                  </a:lnTo>
                  <a:lnTo>
                    <a:pt x="10407904" y="1235075"/>
                  </a:lnTo>
                  <a:lnTo>
                    <a:pt x="0" y="1235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5" r="0" b="-3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3188" y="4698654"/>
            <a:ext cx="3799284" cy="2778176"/>
            <a:chOff x="0" y="0"/>
            <a:chExt cx="5065712" cy="37042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5014976" cy="3653409"/>
            </a:xfrm>
            <a:custGeom>
              <a:avLst/>
              <a:gdLst/>
              <a:ahLst/>
              <a:cxnLst/>
              <a:rect r="r" b="b" t="t" l="l"/>
              <a:pathLst>
                <a:path h="3653409" w="5014976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4855591" y="0"/>
                  </a:lnTo>
                  <a:cubicBezTo>
                    <a:pt x="4943602" y="0"/>
                    <a:pt x="5014976" y="71120"/>
                    <a:pt x="5014976" y="158750"/>
                  </a:cubicBezTo>
                  <a:lnTo>
                    <a:pt x="5014976" y="3494659"/>
                  </a:lnTo>
                  <a:cubicBezTo>
                    <a:pt x="5014976" y="3582289"/>
                    <a:pt x="4943602" y="3653409"/>
                    <a:pt x="4855591" y="3653409"/>
                  </a:cubicBezTo>
                  <a:lnTo>
                    <a:pt x="159385" y="3653409"/>
                  </a:lnTo>
                  <a:cubicBezTo>
                    <a:pt x="71374" y="3653409"/>
                    <a:pt x="0" y="3582289"/>
                    <a:pt x="0" y="3494659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65776" cy="3704209"/>
            </a:xfrm>
            <a:custGeom>
              <a:avLst/>
              <a:gdLst/>
              <a:ahLst/>
              <a:cxnLst/>
              <a:rect r="r" b="b" t="t" l="l"/>
              <a:pathLst>
                <a:path h="3704209" w="5065776">
                  <a:moveTo>
                    <a:pt x="0" y="184150"/>
                  </a:moveTo>
                  <a:cubicBezTo>
                    <a:pt x="0" y="82423"/>
                    <a:pt x="82804" y="0"/>
                    <a:pt x="184785" y="0"/>
                  </a:cubicBezTo>
                  <a:lnTo>
                    <a:pt x="4880991" y="0"/>
                  </a:lnTo>
                  <a:lnTo>
                    <a:pt x="4880991" y="25400"/>
                  </a:lnTo>
                  <a:lnTo>
                    <a:pt x="4880991" y="0"/>
                  </a:lnTo>
                  <a:cubicBezTo>
                    <a:pt x="4982972" y="0"/>
                    <a:pt x="5065776" y="82423"/>
                    <a:pt x="5065776" y="184150"/>
                  </a:cubicBezTo>
                  <a:lnTo>
                    <a:pt x="5065776" y="3520059"/>
                  </a:lnTo>
                  <a:lnTo>
                    <a:pt x="5040376" y="3520059"/>
                  </a:lnTo>
                  <a:lnTo>
                    <a:pt x="5065776" y="3520059"/>
                  </a:lnTo>
                  <a:cubicBezTo>
                    <a:pt x="5065776" y="3621913"/>
                    <a:pt x="4982972" y="3704209"/>
                    <a:pt x="4880991" y="3704209"/>
                  </a:cubicBezTo>
                  <a:lnTo>
                    <a:pt x="4880991" y="3678809"/>
                  </a:lnTo>
                  <a:lnTo>
                    <a:pt x="4880991" y="3704209"/>
                  </a:lnTo>
                  <a:lnTo>
                    <a:pt x="184785" y="3704209"/>
                  </a:lnTo>
                  <a:lnTo>
                    <a:pt x="184785" y="3678809"/>
                  </a:lnTo>
                  <a:lnTo>
                    <a:pt x="184785" y="3704209"/>
                  </a:lnTo>
                  <a:cubicBezTo>
                    <a:pt x="82804" y="3704209"/>
                    <a:pt x="0" y="3621913"/>
                    <a:pt x="0" y="352005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520059"/>
                  </a:lnTo>
                  <a:lnTo>
                    <a:pt x="25400" y="3520059"/>
                  </a:lnTo>
                  <a:lnTo>
                    <a:pt x="50800" y="3520059"/>
                  </a:lnTo>
                  <a:cubicBezTo>
                    <a:pt x="50800" y="3593592"/>
                    <a:pt x="110744" y="3653409"/>
                    <a:pt x="184785" y="3653409"/>
                  </a:cubicBezTo>
                  <a:lnTo>
                    <a:pt x="4880991" y="3653409"/>
                  </a:lnTo>
                  <a:cubicBezTo>
                    <a:pt x="4955032" y="3653409"/>
                    <a:pt x="5014976" y="3593592"/>
                    <a:pt x="5014976" y="3520059"/>
                  </a:cubicBezTo>
                  <a:lnTo>
                    <a:pt x="5014976" y="184150"/>
                  </a:lnTo>
                  <a:lnTo>
                    <a:pt x="5040376" y="184150"/>
                  </a:lnTo>
                  <a:lnTo>
                    <a:pt x="5014976" y="184150"/>
                  </a:lnTo>
                  <a:cubicBezTo>
                    <a:pt x="5014976" y="110617"/>
                    <a:pt x="4955032" y="50800"/>
                    <a:pt x="4880991" y="50800"/>
                  </a:cubicBezTo>
                  <a:lnTo>
                    <a:pt x="184785" y="50800"/>
                  </a:lnTo>
                  <a:lnTo>
                    <a:pt x="184785" y="25400"/>
                  </a:lnTo>
                  <a:lnTo>
                    <a:pt x="184785" y="50800"/>
                  </a:lnTo>
                  <a:cubicBezTo>
                    <a:pt x="110744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13859" y="5010741"/>
            <a:ext cx="311795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Condición de parada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9" y="6113412"/>
            <a:ext cx="311795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error ≤ tolerancia → se alcanzó la raíz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17884" y="4698654"/>
            <a:ext cx="3799284" cy="2778176"/>
            <a:chOff x="0" y="0"/>
            <a:chExt cx="5065712" cy="37042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5014976" cy="3653409"/>
            </a:xfrm>
            <a:custGeom>
              <a:avLst/>
              <a:gdLst/>
              <a:ahLst/>
              <a:cxnLst/>
              <a:rect r="r" b="b" t="t" l="l"/>
              <a:pathLst>
                <a:path h="3653409" w="5014976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4855591" y="0"/>
                  </a:lnTo>
                  <a:cubicBezTo>
                    <a:pt x="4943602" y="0"/>
                    <a:pt x="5014976" y="71120"/>
                    <a:pt x="5014976" y="158750"/>
                  </a:cubicBezTo>
                  <a:lnTo>
                    <a:pt x="5014976" y="3494659"/>
                  </a:lnTo>
                  <a:cubicBezTo>
                    <a:pt x="5014976" y="3582289"/>
                    <a:pt x="4943602" y="3653409"/>
                    <a:pt x="4855591" y="3653409"/>
                  </a:cubicBezTo>
                  <a:lnTo>
                    <a:pt x="159385" y="3653409"/>
                  </a:lnTo>
                  <a:cubicBezTo>
                    <a:pt x="71374" y="3653409"/>
                    <a:pt x="0" y="3582289"/>
                    <a:pt x="0" y="3494659"/>
                  </a:cubicBez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65776" cy="3704209"/>
            </a:xfrm>
            <a:custGeom>
              <a:avLst/>
              <a:gdLst/>
              <a:ahLst/>
              <a:cxnLst/>
              <a:rect r="r" b="b" t="t" l="l"/>
              <a:pathLst>
                <a:path h="3704209" w="5065776">
                  <a:moveTo>
                    <a:pt x="0" y="184150"/>
                  </a:moveTo>
                  <a:cubicBezTo>
                    <a:pt x="0" y="82423"/>
                    <a:pt x="82804" y="0"/>
                    <a:pt x="184785" y="0"/>
                  </a:cubicBezTo>
                  <a:lnTo>
                    <a:pt x="4880991" y="0"/>
                  </a:lnTo>
                  <a:lnTo>
                    <a:pt x="4880991" y="25400"/>
                  </a:lnTo>
                  <a:lnTo>
                    <a:pt x="4880991" y="0"/>
                  </a:lnTo>
                  <a:cubicBezTo>
                    <a:pt x="4982972" y="0"/>
                    <a:pt x="5065776" y="82423"/>
                    <a:pt x="5065776" y="184150"/>
                  </a:cubicBezTo>
                  <a:lnTo>
                    <a:pt x="5065776" y="3520059"/>
                  </a:lnTo>
                  <a:lnTo>
                    <a:pt x="5040376" y="3520059"/>
                  </a:lnTo>
                  <a:lnTo>
                    <a:pt x="5065776" y="3520059"/>
                  </a:lnTo>
                  <a:cubicBezTo>
                    <a:pt x="5065776" y="3621913"/>
                    <a:pt x="4982972" y="3704209"/>
                    <a:pt x="4880991" y="3704209"/>
                  </a:cubicBezTo>
                  <a:lnTo>
                    <a:pt x="4880991" y="3678809"/>
                  </a:lnTo>
                  <a:lnTo>
                    <a:pt x="4880991" y="3704209"/>
                  </a:lnTo>
                  <a:lnTo>
                    <a:pt x="184785" y="3704209"/>
                  </a:lnTo>
                  <a:lnTo>
                    <a:pt x="184785" y="3678809"/>
                  </a:lnTo>
                  <a:lnTo>
                    <a:pt x="184785" y="3704209"/>
                  </a:lnTo>
                  <a:cubicBezTo>
                    <a:pt x="82804" y="3704209"/>
                    <a:pt x="0" y="3621913"/>
                    <a:pt x="0" y="352005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520059"/>
                  </a:lnTo>
                  <a:lnTo>
                    <a:pt x="25400" y="3520059"/>
                  </a:lnTo>
                  <a:lnTo>
                    <a:pt x="50800" y="3520059"/>
                  </a:lnTo>
                  <a:cubicBezTo>
                    <a:pt x="50800" y="3593592"/>
                    <a:pt x="110744" y="3653409"/>
                    <a:pt x="184785" y="3653409"/>
                  </a:cubicBezTo>
                  <a:lnTo>
                    <a:pt x="4880991" y="3653409"/>
                  </a:lnTo>
                  <a:cubicBezTo>
                    <a:pt x="4955032" y="3653409"/>
                    <a:pt x="5014976" y="3593592"/>
                    <a:pt x="5014976" y="3520059"/>
                  </a:cubicBezTo>
                  <a:lnTo>
                    <a:pt x="5014976" y="184150"/>
                  </a:lnTo>
                  <a:lnTo>
                    <a:pt x="5040376" y="184150"/>
                  </a:lnTo>
                  <a:lnTo>
                    <a:pt x="5014976" y="184150"/>
                  </a:lnTo>
                  <a:cubicBezTo>
                    <a:pt x="5014976" y="110617"/>
                    <a:pt x="4955032" y="50800"/>
                    <a:pt x="4880991" y="50800"/>
                  </a:cubicBezTo>
                  <a:lnTo>
                    <a:pt x="184785" y="50800"/>
                  </a:lnTo>
                  <a:lnTo>
                    <a:pt x="184785" y="25400"/>
                  </a:lnTo>
                  <a:lnTo>
                    <a:pt x="184785" y="50800"/>
                  </a:lnTo>
                  <a:cubicBezTo>
                    <a:pt x="110744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358555" y="5010741"/>
            <a:ext cx="311795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Caso especial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58555" y="5670499"/>
            <a:ext cx="3117952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 g(x) = 0, se evita división por cero con manejo explícito.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99397" y="2666257"/>
            <a:ext cx="7805890" cy="5103314"/>
            <a:chOff x="0" y="0"/>
            <a:chExt cx="10407853" cy="68044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07904" cy="6804406"/>
            </a:xfrm>
            <a:custGeom>
              <a:avLst/>
              <a:gdLst/>
              <a:ahLst/>
              <a:cxnLst/>
              <a:rect r="r" b="b" t="t" l="l"/>
              <a:pathLst>
                <a:path h="6804406" w="10407904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154" y="0"/>
                  </a:lnTo>
                  <a:cubicBezTo>
                    <a:pt x="10336785" y="0"/>
                    <a:pt x="10407904" y="71120"/>
                    <a:pt x="10407904" y="158750"/>
                  </a:cubicBezTo>
                  <a:lnTo>
                    <a:pt x="10407904" y="6645656"/>
                  </a:lnTo>
                  <a:cubicBezTo>
                    <a:pt x="10407904" y="6733287"/>
                    <a:pt x="10336785" y="6804406"/>
                    <a:pt x="10249154" y="6804406"/>
                  </a:cubicBezTo>
                  <a:lnTo>
                    <a:pt x="158750" y="6804406"/>
                  </a:lnTo>
                  <a:cubicBezTo>
                    <a:pt x="71120" y="6804406"/>
                    <a:pt x="0" y="6733287"/>
                    <a:pt x="0" y="6645656"/>
                  </a:cubicBezTo>
                  <a:close/>
                </a:path>
              </a:pathLst>
            </a:custGeom>
            <a:solidFill>
              <a:srgbClr val="0D0D2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85262" y="2666257"/>
            <a:ext cx="7834160" cy="5103314"/>
            <a:chOff x="0" y="0"/>
            <a:chExt cx="10445547" cy="68044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45497" cy="6804406"/>
            </a:xfrm>
            <a:custGeom>
              <a:avLst/>
              <a:gdLst/>
              <a:ahLst/>
              <a:cxnLst/>
              <a:rect r="r" b="b" t="t" l="l"/>
              <a:pathLst>
                <a:path h="6804406" w="1044549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388854" y="0"/>
                  </a:lnTo>
                  <a:cubicBezTo>
                    <a:pt x="10420097" y="0"/>
                    <a:pt x="10445497" y="25400"/>
                    <a:pt x="10445497" y="56642"/>
                  </a:cubicBezTo>
                  <a:lnTo>
                    <a:pt x="10445497" y="6747764"/>
                  </a:lnTo>
                  <a:cubicBezTo>
                    <a:pt x="10445497" y="6779006"/>
                    <a:pt x="10420097" y="6804406"/>
                    <a:pt x="10388854" y="6804406"/>
                  </a:cubicBezTo>
                  <a:lnTo>
                    <a:pt x="56642" y="6804406"/>
                  </a:lnTo>
                  <a:cubicBezTo>
                    <a:pt x="25400" y="6804406"/>
                    <a:pt x="0" y="6779006"/>
                    <a:pt x="0" y="6747764"/>
                  </a:cubicBezTo>
                  <a:close/>
                </a:path>
              </a:pathLst>
            </a:custGeom>
            <a:solidFill>
              <a:srgbClr val="0D0D2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39620" y="2816428"/>
            <a:ext cx="7125443" cy="466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if gx == 0: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error = float('inf')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error = abs(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  (gx - x) / gx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</a:p>
          <a:p>
            <a:pPr algn="l">
              <a:lnSpc>
                <a:spcPts val="3562"/>
              </a:lnSpc>
            </a:pP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if error &lt;= tolerancia: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convergio = True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break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9397" y="7993266"/>
            <a:ext cx="780589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La convergencia queda garantizada cuando el error cae por debajo del umbral definido por el usuario.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592761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Manejo de Errores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294203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67" r="0" b="-1066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55314" y="2913459"/>
            <a:ext cx="4056164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try / except en evaluación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5314" y="3459804"/>
            <a:ext cx="8382448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Captura excepciones al evaluar g(x) con eval(), evitando cierres inesperados del programa.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5038877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1333" r="0" b="-1133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55314" y="5010302"/>
            <a:ext cx="360908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Validación de entradas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5314" y="5556647"/>
            <a:ext cx="8382448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Verifica que </a:t>
            </a:r>
            <a:r>
              <a:rPr lang="en-US" sz="2187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x₀</a:t>
            </a: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y la </a:t>
            </a:r>
            <a:r>
              <a:rPr lang="en-US" sz="2187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tolerancia</a:t>
            </a: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sean valores numéricos válidos antes de iniciar las iteraciones.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7126186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66" t="0" r="-466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55314" y="7097611"/>
            <a:ext cx="3747935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Prevención matemática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5314" y="7643965"/>
            <a:ext cx="8382448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Detecta divisiones por cero, desbordamientos y dominios no definidos (p.ej. log(-1)).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8468" y="1372638"/>
            <a:ext cx="6877345" cy="78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Interfaz Gráfica — Tkinter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8468" y="2703014"/>
            <a:ext cx="10577065" cy="5949553"/>
            <a:chOff x="0" y="0"/>
            <a:chExt cx="14102753" cy="79327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102714" cy="7932801"/>
            </a:xfrm>
            <a:custGeom>
              <a:avLst/>
              <a:gdLst/>
              <a:ahLst/>
              <a:cxnLst/>
              <a:rect r="r" b="b" t="t" l="l"/>
              <a:pathLst>
                <a:path h="7932801" w="14102714">
                  <a:moveTo>
                    <a:pt x="0" y="0"/>
                  </a:moveTo>
                  <a:lnTo>
                    <a:pt x="14102714" y="0"/>
                  </a:lnTo>
                  <a:lnTo>
                    <a:pt x="14102714" y="7932801"/>
                  </a:lnTo>
                  <a:lnTo>
                    <a:pt x="0" y="7932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0" r="0" b="-4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26503" y="2685155"/>
            <a:ext cx="3456232" cy="39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Componentes principales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026503" y="3449536"/>
            <a:ext cx="121148" cy="121148"/>
            <a:chOff x="0" y="0"/>
            <a:chExt cx="161531" cy="1615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1544" cy="161544"/>
            </a:xfrm>
            <a:custGeom>
              <a:avLst/>
              <a:gdLst/>
              <a:ahLst/>
              <a:cxnLst/>
              <a:rect r="r" b="b" t="t" l="l"/>
              <a:pathLst>
                <a:path h="161544" w="16154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cubicBezTo>
                    <a:pt x="125349" y="0"/>
                    <a:pt x="161544" y="36195"/>
                    <a:pt x="161544" y="80772"/>
                  </a:cubicBezTo>
                  <a:cubicBezTo>
                    <a:pt x="161544" y="125349"/>
                    <a:pt x="125349" y="161544"/>
                    <a:pt x="80772" y="161544"/>
                  </a:cubicBezTo>
                  <a:cubicBezTo>
                    <a:pt x="36195" y="161544"/>
                    <a:pt x="0" y="125349"/>
                    <a:pt x="0" y="80772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54963" y="3249511"/>
            <a:ext cx="5093941" cy="79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Entradas:</a:t>
            </a:r>
            <a:r>
              <a:rPr lang="en-US" sz="1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campo para g(x), valor inicial x₀ y tolerancia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26503" y="4593136"/>
            <a:ext cx="121148" cy="121148"/>
            <a:chOff x="0" y="0"/>
            <a:chExt cx="161531" cy="1615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544" cy="161544"/>
            </a:xfrm>
            <a:custGeom>
              <a:avLst/>
              <a:gdLst/>
              <a:ahLst/>
              <a:cxnLst/>
              <a:rect r="r" b="b" t="t" l="l"/>
              <a:pathLst>
                <a:path h="161544" w="16154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cubicBezTo>
                    <a:pt x="125349" y="0"/>
                    <a:pt x="161544" y="36195"/>
                    <a:pt x="161544" y="80772"/>
                  </a:cubicBezTo>
                  <a:cubicBezTo>
                    <a:pt x="161544" y="125349"/>
                    <a:pt x="125349" y="161544"/>
                    <a:pt x="80772" y="161544"/>
                  </a:cubicBezTo>
                  <a:cubicBezTo>
                    <a:pt x="36195" y="161544"/>
                    <a:pt x="0" y="125349"/>
                    <a:pt x="0" y="80772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354963" y="4393111"/>
            <a:ext cx="5093941" cy="70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Botones:</a:t>
            </a:r>
            <a:r>
              <a:rPr lang="en-US" sz="1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Calcular lanza el algoritmo; Limpiar reinicia la sesión; Ayuda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26503" y="5736727"/>
            <a:ext cx="121148" cy="121148"/>
            <a:chOff x="0" y="0"/>
            <a:chExt cx="161531" cy="1615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1544" cy="161544"/>
            </a:xfrm>
            <a:custGeom>
              <a:avLst/>
              <a:gdLst/>
              <a:ahLst/>
              <a:cxnLst/>
              <a:rect r="r" b="b" t="t" l="l"/>
              <a:pathLst>
                <a:path h="161544" w="16154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cubicBezTo>
                    <a:pt x="125349" y="0"/>
                    <a:pt x="161544" y="36195"/>
                    <a:pt x="161544" y="80772"/>
                  </a:cubicBezTo>
                  <a:cubicBezTo>
                    <a:pt x="161544" y="125349"/>
                    <a:pt x="125349" y="161544"/>
                    <a:pt x="80772" y="161544"/>
                  </a:cubicBezTo>
                  <a:cubicBezTo>
                    <a:pt x="36195" y="161544"/>
                    <a:pt x="0" y="125349"/>
                    <a:pt x="0" y="80772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54963" y="5536702"/>
            <a:ext cx="5093941" cy="42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Tabla Treeview:</a:t>
            </a:r>
            <a:r>
              <a:rPr lang="en-US" sz="1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columnas Nº, xₙ, g(xₙ) y error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26503" y="6511080"/>
            <a:ext cx="121148" cy="121148"/>
            <a:chOff x="0" y="0"/>
            <a:chExt cx="161531" cy="1615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1544" cy="161544"/>
            </a:xfrm>
            <a:custGeom>
              <a:avLst/>
              <a:gdLst/>
              <a:ahLst/>
              <a:cxnLst/>
              <a:rect r="r" b="b" t="t" l="l"/>
              <a:pathLst>
                <a:path h="161544" w="161544">
                  <a:moveTo>
                    <a:pt x="0" y="80772"/>
                  </a:moveTo>
                  <a:cubicBezTo>
                    <a:pt x="0" y="36195"/>
                    <a:pt x="36195" y="0"/>
                    <a:pt x="80772" y="0"/>
                  </a:cubicBezTo>
                  <a:cubicBezTo>
                    <a:pt x="125349" y="0"/>
                    <a:pt x="161544" y="36195"/>
                    <a:pt x="161544" y="80772"/>
                  </a:cubicBezTo>
                  <a:cubicBezTo>
                    <a:pt x="161544" y="125349"/>
                    <a:pt x="125349" y="161544"/>
                    <a:pt x="80772" y="161544"/>
                  </a:cubicBezTo>
                  <a:cubicBezTo>
                    <a:pt x="36195" y="161544"/>
                    <a:pt x="0" y="125349"/>
                    <a:pt x="0" y="80772"/>
                  </a:cubicBez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54963" y="6311055"/>
            <a:ext cx="5093941" cy="78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Actualización dinámica tras cada cálculo, sin recargar la ventana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26503" y="7330383"/>
            <a:ext cx="5422402" cy="1294952"/>
            <a:chOff x="0" y="0"/>
            <a:chExt cx="7229869" cy="17266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29856" cy="1726565"/>
            </a:xfrm>
            <a:custGeom>
              <a:avLst/>
              <a:gdLst/>
              <a:ahLst/>
              <a:cxnLst/>
              <a:rect r="r" b="b" t="t" l="l"/>
              <a:pathLst>
                <a:path h="1726565" w="7229856">
                  <a:moveTo>
                    <a:pt x="0" y="135763"/>
                  </a:moveTo>
                  <a:cubicBezTo>
                    <a:pt x="0" y="60833"/>
                    <a:pt x="60833" y="0"/>
                    <a:pt x="135763" y="0"/>
                  </a:cubicBezTo>
                  <a:lnTo>
                    <a:pt x="7094093" y="0"/>
                  </a:lnTo>
                  <a:cubicBezTo>
                    <a:pt x="7169024" y="0"/>
                    <a:pt x="7229856" y="60833"/>
                    <a:pt x="7229856" y="135763"/>
                  </a:cubicBezTo>
                  <a:lnTo>
                    <a:pt x="7229856" y="1590802"/>
                  </a:lnTo>
                  <a:cubicBezTo>
                    <a:pt x="7229856" y="1665732"/>
                    <a:pt x="7169024" y="1726565"/>
                    <a:pt x="7094093" y="1726565"/>
                  </a:cubicBezTo>
                  <a:lnTo>
                    <a:pt x="135763" y="1726565"/>
                  </a:lnTo>
                  <a:cubicBezTo>
                    <a:pt x="60833" y="1726565"/>
                    <a:pt x="0" y="1665859"/>
                    <a:pt x="0" y="1590802"/>
                  </a:cubicBezTo>
                  <a:close/>
                </a:path>
              </a:pathLst>
            </a:custGeom>
            <a:solidFill>
              <a:srgbClr val="0F16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68943" y="7678341"/>
            <a:ext cx="303009" cy="242440"/>
            <a:chOff x="0" y="0"/>
            <a:chExt cx="404012" cy="323253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03987" cy="323215"/>
            </a:xfrm>
            <a:custGeom>
              <a:avLst/>
              <a:gdLst/>
              <a:ahLst/>
              <a:cxnLst/>
              <a:rect r="r" b="b" t="t" l="l"/>
              <a:pathLst>
                <a:path h="323215" w="403987">
                  <a:moveTo>
                    <a:pt x="0" y="0"/>
                  </a:moveTo>
                  <a:lnTo>
                    <a:pt x="403987" y="0"/>
                  </a:lnTo>
                  <a:lnTo>
                    <a:pt x="403987" y="323215"/>
                  </a:lnTo>
                  <a:lnTo>
                    <a:pt x="0" y="323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7" t="0" r="-1213" b="-1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14402" y="7531598"/>
            <a:ext cx="4392063" cy="78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tabla permite seguir visualmente cada iteración del proceso.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18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9977" y="3238732"/>
            <a:ext cx="6858000" cy="4350681"/>
            <a:chOff x="0" y="0"/>
            <a:chExt cx="9144000" cy="58009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5800908"/>
            </a:xfrm>
            <a:custGeom>
              <a:avLst/>
              <a:gdLst/>
              <a:ahLst/>
              <a:cxnLst/>
              <a:rect r="r" b="b" t="t" l="l"/>
              <a:pathLst>
                <a:path h="5800908" w="9144000">
                  <a:moveTo>
                    <a:pt x="495300" y="0"/>
                  </a:moveTo>
                  <a:lnTo>
                    <a:pt x="8648700" y="0"/>
                  </a:lnTo>
                  <a:cubicBezTo>
                    <a:pt x="8922247" y="0"/>
                    <a:pt x="9144000" y="221753"/>
                    <a:pt x="9144000" y="495300"/>
                  </a:cubicBezTo>
                  <a:lnTo>
                    <a:pt x="9144000" y="5305608"/>
                  </a:lnTo>
                  <a:cubicBezTo>
                    <a:pt x="9144000" y="5436969"/>
                    <a:pt x="9091817" y="5562951"/>
                    <a:pt x="8998930" y="5655838"/>
                  </a:cubicBezTo>
                  <a:cubicBezTo>
                    <a:pt x="8906043" y="5748724"/>
                    <a:pt x="8780062" y="5800908"/>
                    <a:pt x="8648700" y="5800908"/>
                  </a:cubicBezTo>
                  <a:lnTo>
                    <a:pt x="495300" y="5800908"/>
                  </a:lnTo>
                  <a:cubicBezTo>
                    <a:pt x="221753" y="5800908"/>
                    <a:pt x="0" y="5579154"/>
                    <a:pt x="0" y="5305608"/>
                  </a:cubicBezTo>
                  <a:lnTo>
                    <a:pt x="0" y="495300"/>
                  </a:ln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75" r="0" b="-29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66152" y="2298649"/>
            <a:ext cx="4493419" cy="2406253"/>
            <a:chOff x="0" y="0"/>
            <a:chExt cx="5991225" cy="32083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5978398" cy="3195574"/>
            </a:xfrm>
            <a:custGeom>
              <a:avLst/>
              <a:gdLst/>
              <a:ahLst/>
              <a:cxnLst/>
              <a:rect r="r" b="b" t="t" l="l"/>
              <a:pathLst>
                <a:path h="3195574" w="5978398">
                  <a:moveTo>
                    <a:pt x="0" y="146050"/>
                  </a:moveTo>
                  <a:cubicBezTo>
                    <a:pt x="0" y="65405"/>
                    <a:pt x="65532" y="0"/>
                    <a:pt x="146304" y="0"/>
                  </a:cubicBezTo>
                  <a:lnTo>
                    <a:pt x="5832094" y="0"/>
                  </a:lnTo>
                  <a:cubicBezTo>
                    <a:pt x="5912866" y="0"/>
                    <a:pt x="5978398" y="65405"/>
                    <a:pt x="5978398" y="146050"/>
                  </a:cubicBezTo>
                  <a:lnTo>
                    <a:pt x="5978398" y="3049524"/>
                  </a:lnTo>
                  <a:cubicBezTo>
                    <a:pt x="5978398" y="3130169"/>
                    <a:pt x="5912866" y="3195574"/>
                    <a:pt x="5832094" y="3195574"/>
                  </a:cubicBezTo>
                  <a:lnTo>
                    <a:pt x="146304" y="3195574"/>
                  </a:lnTo>
                  <a:cubicBezTo>
                    <a:pt x="65532" y="3195701"/>
                    <a:pt x="0" y="3130296"/>
                    <a:pt x="0" y="3049524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91098" cy="3208274"/>
            </a:xfrm>
            <a:custGeom>
              <a:avLst/>
              <a:gdLst/>
              <a:ahLst/>
              <a:cxnLst/>
              <a:rect r="r" b="b" t="t" l="l"/>
              <a:pathLst>
                <a:path h="3208274" w="5991098">
                  <a:moveTo>
                    <a:pt x="0" y="152400"/>
                  </a:moveTo>
                  <a:cubicBezTo>
                    <a:pt x="0" y="68199"/>
                    <a:pt x="68326" y="0"/>
                    <a:pt x="152654" y="0"/>
                  </a:cubicBezTo>
                  <a:lnTo>
                    <a:pt x="5838444" y="0"/>
                  </a:lnTo>
                  <a:lnTo>
                    <a:pt x="5838444" y="6350"/>
                  </a:lnTo>
                  <a:lnTo>
                    <a:pt x="5838444" y="0"/>
                  </a:lnTo>
                  <a:cubicBezTo>
                    <a:pt x="5922772" y="0"/>
                    <a:pt x="5991098" y="68199"/>
                    <a:pt x="5991098" y="152400"/>
                  </a:cubicBezTo>
                  <a:lnTo>
                    <a:pt x="5984748" y="152400"/>
                  </a:lnTo>
                  <a:lnTo>
                    <a:pt x="5991098" y="152400"/>
                  </a:lnTo>
                  <a:lnTo>
                    <a:pt x="5991098" y="3055874"/>
                  </a:lnTo>
                  <a:lnTo>
                    <a:pt x="5984748" y="3055874"/>
                  </a:lnTo>
                  <a:lnTo>
                    <a:pt x="5991098" y="3055874"/>
                  </a:lnTo>
                  <a:cubicBezTo>
                    <a:pt x="5991098" y="3140075"/>
                    <a:pt x="5922772" y="3208274"/>
                    <a:pt x="5838444" y="3208274"/>
                  </a:cubicBezTo>
                  <a:lnTo>
                    <a:pt x="5838444" y="3201924"/>
                  </a:lnTo>
                  <a:lnTo>
                    <a:pt x="5838444" y="3208274"/>
                  </a:lnTo>
                  <a:lnTo>
                    <a:pt x="152654" y="3208274"/>
                  </a:lnTo>
                  <a:lnTo>
                    <a:pt x="152654" y="3201924"/>
                  </a:lnTo>
                  <a:lnTo>
                    <a:pt x="152654" y="3208274"/>
                  </a:lnTo>
                  <a:cubicBezTo>
                    <a:pt x="68326" y="3208274"/>
                    <a:pt x="0" y="3140075"/>
                    <a:pt x="0" y="3055874"/>
                  </a:cubicBezTo>
                  <a:lnTo>
                    <a:pt x="0" y="152400"/>
                  </a:lnTo>
                  <a:lnTo>
                    <a:pt x="6350" y="152400"/>
                  </a:lnTo>
                  <a:lnTo>
                    <a:pt x="0" y="152400"/>
                  </a:lnTo>
                  <a:moveTo>
                    <a:pt x="12700" y="152400"/>
                  </a:moveTo>
                  <a:lnTo>
                    <a:pt x="12700" y="3055874"/>
                  </a:lnTo>
                  <a:lnTo>
                    <a:pt x="6350" y="3055874"/>
                  </a:lnTo>
                  <a:lnTo>
                    <a:pt x="12700" y="3055874"/>
                  </a:lnTo>
                  <a:cubicBezTo>
                    <a:pt x="12700" y="3133090"/>
                    <a:pt x="75311" y="3195574"/>
                    <a:pt x="152654" y="3195574"/>
                  </a:cubicBezTo>
                  <a:lnTo>
                    <a:pt x="5838444" y="3195574"/>
                  </a:lnTo>
                  <a:cubicBezTo>
                    <a:pt x="5915787" y="3195574"/>
                    <a:pt x="5978398" y="3132963"/>
                    <a:pt x="5978398" y="3055874"/>
                  </a:cubicBezTo>
                  <a:lnTo>
                    <a:pt x="5978398" y="152400"/>
                  </a:lnTo>
                  <a:cubicBezTo>
                    <a:pt x="5978398" y="75184"/>
                    <a:pt x="5915787" y="12700"/>
                    <a:pt x="5838444" y="12700"/>
                  </a:cubicBezTo>
                  <a:lnTo>
                    <a:pt x="152654" y="12700"/>
                  </a:lnTo>
                  <a:lnTo>
                    <a:pt x="152654" y="6350"/>
                  </a:lnTo>
                  <a:lnTo>
                    <a:pt x="152654" y="12700"/>
                  </a:lnTo>
                  <a:cubicBezTo>
                    <a:pt x="75311" y="12700"/>
                    <a:pt x="12700" y="75311"/>
                    <a:pt x="12700" y="1524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766152" y="4935293"/>
            <a:ext cx="4493419" cy="1998764"/>
            <a:chOff x="0" y="0"/>
            <a:chExt cx="5991225" cy="26650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5978525" cy="2652268"/>
            </a:xfrm>
            <a:custGeom>
              <a:avLst/>
              <a:gdLst/>
              <a:ahLst/>
              <a:cxnLst/>
              <a:rect r="r" b="b" t="t" l="l"/>
              <a:pathLst>
                <a:path h="2652268" w="5978525">
                  <a:moveTo>
                    <a:pt x="0" y="146050"/>
                  </a:moveTo>
                  <a:cubicBezTo>
                    <a:pt x="0" y="65405"/>
                    <a:pt x="65532" y="0"/>
                    <a:pt x="146431" y="0"/>
                  </a:cubicBezTo>
                  <a:lnTo>
                    <a:pt x="5832094" y="0"/>
                  </a:lnTo>
                  <a:cubicBezTo>
                    <a:pt x="5912993" y="0"/>
                    <a:pt x="5978525" y="65405"/>
                    <a:pt x="5978525" y="146050"/>
                  </a:cubicBezTo>
                  <a:lnTo>
                    <a:pt x="5978525" y="2506218"/>
                  </a:lnTo>
                  <a:cubicBezTo>
                    <a:pt x="5978525" y="2586863"/>
                    <a:pt x="5912993" y="2652268"/>
                    <a:pt x="5832094" y="2652268"/>
                  </a:cubicBezTo>
                  <a:lnTo>
                    <a:pt x="146431" y="2652268"/>
                  </a:lnTo>
                  <a:cubicBezTo>
                    <a:pt x="65532" y="2652268"/>
                    <a:pt x="0" y="2586863"/>
                    <a:pt x="0" y="2506218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1225" cy="2664968"/>
            </a:xfrm>
            <a:custGeom>
              <a:avLst/>
              <a:gdLst/>
              <a:ahLst/>
              <a:cxnLst/>
              <a:rect r="r" b="b" t="t" l="l"/>
              <a:pathLst>
                <a:path h="2664968" w="5991225">
                  <a:moveTo>
                    <a:pt x="0" y="152400"/>
                  </a:moveTo>
                  <a:cubicBezTo>
                    <a:pt x="0" y="68199"/>
                    <a:pt x="68453" y="0"/>
                    <a:pt x="152781" y="0"/>
                  </a:cubicBezTo>
                  <a:lnTo>
                    <a:pt x="5838444" y="0"/>
                  </a:lnTo>
                  <a:lnTo>
                    <a:pt x="5838444" y="6350"/>
                  </a:lnTo>
                  <a:lnTo>
                    <a:pt x="5838444" y="0"/>
                  </a:lnTo>
                  <a:cubicBezTo>
                    <a:pt x="5922772" y="0"/>
                    <a:pt x="5991225" y="68199"/>
                    <a:pt x="5991225" y="152400"/>
                  </a:cubicBezTo>
                  <a:lnTo>
                    <a:pt x="5984875" y="152400"/>
                  </a:lnTo>
                  <a:lnTo>
                    <a:pt x="5991225" y="152400"/>
                  </a:lnTo>
                  <a:lnTo>
                    <a:pt x="5991225" y="2512568"/>
                  </a:lnTo>
                  <a:lnTo>
                    <a:pt x="5984875" y="2512568"/>
                  </a:lnTo>
                  <a:lnTo>
                    <a:pt x="5991225" y="2512568"/>
                  </a:lnTo>
                  <a:cubicBezTo>
                    <a:pt x="5991225" y="2596769"/>
                    <a:pt x="5922772" y="2664968"/>
                    <a:pt x="5838444" y="2664968"/>
                  </a:cubicBezTo>
                  <a:lnTo>
                    <a:pt x="5838444" y="2658618"/>
                  </a:lnTo>
                  <a:lnTo>
                    <a:pt x="5838444" y="2664968"/>
                  </a:lnTo>
                  <a:lnTo>
                    <a:pt x="152781" y="2664968"/>
                  </a:lnTo>
                  <a:lnTo>
                    <a:pt x="152781" y="2658618"/>
                  </a:lnTo>
                  <a:lnTo>
                    <a:pt x="152781" y="2664968"/>
                  </a:lnTo>
                  <a:cubicBezTo>
                    <a:pt x="68453" y="2664968"/>
                    <a:pt x="0" y="2596769"/>
                    <a:pt x="0" y="2512568"/>
                  </a:cubicBezTo>
                  <a:lnTo>
                    <a:pt x="0" y="152400"/>
                  </a:lnTo>
                  <a:lnTo>
                    <a:pt x="6350" y="152400"/>
                  </a:lnTo>
                  <a:lnTo>
                    <a:pt x="0" y="152400"/>
                  </a:lnTo>
                  <a:moveTo>
                    <a:pt x="12700" y="152400"/>
                  </a:moveTo>
                  <a:lnTo>
                    <a:pt x="12700" y="2512568"/>
                  </a:lnTo>
                  <a:lnTo>
                    <a:pt x="6350" y="2512568"/>
                  </a:lnTo>
                  <a:lnTo>
                    <a:pt x="12700" y="2512568"/>
                  </a:lnTo>
                  <a:cubicBezTo>
                    <a:pt x="12700" y="2589657"/>
                    <a:pt x="75438" y="2652268"/>
                    <a:pt x="152781" y="2652268"/>
                  </a:cubicBezTo>
                  <a:lnTo>
                    <a:pt x="5838444" y="2652268"/>
                  </a:lnTo>
                  <a:cubicBezTo>
                    <a:pt x="5915787" y="2652268"/>
                    <a:pt x="5978525" y="2589657"/>
                    <a:pt x="5978525" y="2512568"/>
                  </a:cubicBezTo>
                  <a:lnTo>
                    <a:pt x="5978525" y="152400"/>
                  </a:lnTo>
                  <a:cubicBezTo>
                    <a:pt x="5978525" y="75311"/>
                    <a:pt x="5915787" y="12700"/>
                    <a:pt x="5838444" y="12700"/>
                  </a:cubicBezTo>
                  <a:lnTo>
                    <a:pt x="152781" y="12700"/>
                  </a:lnTo>
                  <a:lnTo>
                    <a:pt x="152781" y="6350"/>
                  </a:lnTo>
                  <a:lnTo>
                    <a:pt x="152781" y="12700"/>
                  </a:lnTo>
                  <a:cubicBezTo>
                    <a:pt x="75438" y="12700"/>
                    <a:pt x="12700" y="75311"/>
                    <a:pt x="12700" y="1524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66152" y="7164438"/>
            <a:ext cx="4493419" cy="1998764"/>
            <a:chOff x="0" y="0"/>
            <a:chExt cx="5991225" cy="2665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5978525" cy="2652268"/>
            </a:xfrm>
            <a:custGeom>
              <a:avLst/>
              <a:gdLst/>
              <a:ahLst/>
              <a:cxnLst/>
              <a:rect r="r" b="b" t="t" l="l"/>
              <a:pathLst>
                <a:path h="2652268" w="5978525">
                  <a:moveTo>
                    <a:pt x="0" y="146050"/>
                  </a:moveTo>
                  <a:cubicBezTo>
                    <a:pt x="0" y="65405"/>
                    <a:pt x="65532" y="0"/>
                    <a:pt x="146431" y="0"/>
                  </a:cubicBezTo>
                  <a:lnTo>
                    <a:pt x="5832094" y="0"/>
                  </a:lnTo>
                  <a:cubicBezTo>
                    <a:pt x="5912993" y="0"/>
                    <a:pt x="5978525" y="65405"/>
                    <a:pt x="5978525" y="146050"/>
                  </a:cubicBezTo>
                  <a:lnTo>
                    <a:pt x="5978525" y="2506218"/>
                  </a:lnTo>
                  <a:cubicBezTo>
                    <a:pt x="5978525" y="2586863"/>
                    <a:pt x="5912993" y="2652268"/>
                    <a:pt x="5832094" y="2652268"/>
                  </a:cubicBezTo>
                  <a:lnTo>
                    <a:pt x="146431" y="2652268"/>
                  </a:lnTo>
                  <a:cubicBezTo>
                    <a:pt x="65532" y="2652268"/>
                    <a:pt x="0" y="2586863"/>
                    <a:pt x="0" y="2506218"/>
                  </a:cubicBezTo>
                  <a:close/>
                </a:path>
              </a:pathLst>
            </a:custGeom>
            <a:solidFill>
              <a:srgbClr val="18256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91225" cy="2664968"/>
            </a:xfrm>
            <a:custGeom>
              <a:avLst/>
              <a:gdLst/>
              <a:ahLst/>
              <a:cxnLst/>
              <a:rect r="r" b="b" t="t" l="l"/>
              <a:pathLst>
                <a:path h="2664968" w="5991225">
                  <a:moveTo>
                    <a:pt x="0" y="152400"/>
                  </a:moveTo>
                  <a:cubicBezTo>
                    <a:pt x="0" y="68199"/>
                    <a:pt x="68453" y="0"/>
                    <a:pt x="152781" y="0"/>
                  </a:cubicBezTo>
                  <a:lnTo>
                    <a:pt x="5838444" y="0"/>
                  </a:lnTo>
                  <a:lnTo>
                    <a:pt x="5838444" y="6350"/>
                  </a:lnTo>
                  <a:lnTo>
                    <a:pt x="5838444" y="0"/>
                  </a:lnTo>
                  <a:cubicBezTo>
                    <a:pt x="5922772" y="0"/>
                    <a:pt x="5991225" y="68199"/>
                    <a:pt x="5991225" y="152400"/>
                  </a:cubicBezTo>
                  <a:lnTo>
                    <a:pt x="5984875" y="152400"/>
                  </a:lnTo>
                  <a:lnTo>
                    <a:pt x="5991225" y="152400"/>
                  </a:lnTo>
                  <a:lnTo>
                    <a:pt x="5991225" y="2512568"/>
                  </a:lnTo>
                  <a:lnTo>
                    <a:pt x="5984875" y="2512568"/>
                  </a:lnTo>
                  <a:lnTo>
                    <a:pt x="5991225" y="2512568"/>
                  </a:lnTo>
                  <a:cubicBezTo>
                    <a:pt x="5991225" y="2596769"/>
                    <a:pt x="5922772" y="2664968"/>
                    <a:pt x="5838444" y="2664968"/>
                  </a:cubicBezTo>
                  <a:lnTo>
                    <a:pt x="5838444" y="2658618"/>
                  </a:lnTo>
                  <a:lnTo>
                    <a:pt x="5838444" y="2664968"/>
                  </a:lnTo>
                  <a:lnTo>
                    <a:pt x="152781" y="2664968"/>
                  </a:lnTo>
                  <a:lnTo>
                    <a:pt x="152781" y="2658618"/>
                  </a:lnTo>
                  <a:lnTo>
                    <a:pt x="152781" y="2664968"/>
                  </a:lnTo>
                  <a:cubicBezTo>
                    <a:pt x="68453" y="2664968"/>
                    <a:pt x="0" y="2596769"/>
                    <a:pt x="0" y="2512568"/>
                  </a:cubicBezTo>
                  <a:lnTo>
                    <a:pt x="0" y="152400"/>
                  </a:lnTo>
                  <a:lnTo>
                    <a:pt x="6350" y="152400"/>
                  </a:lnTo>
                  <a:lnTo>
                    <a:pt x="0" y="152400"/>
                  </a:lnTo>
                  <a:moveTo>
                    <a:pt x="12700" y="152400"/>
                  </a:moveTo>
                  <a:lnTo>
                    <a:pt x="12700" y="2512568"/>
                  </a:lnTo>
                  <a:lnTo>
                    <a:pt x="6350" y="2512568"/>
                  </a:lnTo>
                  <a:lnTo>
                    <a:pt x="12700" y="2512568"/>
                  </a:lnTo>
                  <a:cubicBezTo>
                    <a:pt x="12700" y="2589657"/>
                    <a:pt x="75438" y="2652268"/>
                    <a:pt x="152781" y="2652268"/>
                  </a:cubicBezTo>
                  <a:lnTo>
                    <a:pt x="5838444" y="2652268"/>
                  </a:lnTo>
                  <a:cubicBezTo>
                    <a:pt x="5915787" y="2652268"/>
                    <a:pt x="5978525" y="2589657"/>
                    <a:pt x="5978525" y="2512568"/>
                  </a:cubicBezTo>
                  <a:lnTo>
                    <a:pt x="5978525" y="152400"/>
                  </a:lnTo>
                  <a:cubicBezTo>
                    <a:pt x="5978525" y="75311"/>
                    <a:pt x="5915787" y="12700"/>
                    <a:pt x="5838444" y="12700"/>
                  </a:cubicBezTo>
                  <a:lnTo>
                    <a:pt x="152781" y="12700"/>
                  </a:lnTo>
                  <a:lnTo>
                    <a:pt x="152781" y="6350"/>
                  </a:lnTo>
                  <a:lnTo>
                    <a:pt x="152781" y="12700"/>
                  </a:lnTo>
                  <a:cubicBezTo>
                    <a:pt x="75438" y="12700"/>
                    <a:pt x="12700" y="75311"/>
                    <a:pt x="12700" y="152400"/>
                  </a:cubicBezTo>
                  <a:close/>
                </a:path>
              </a:pathLst>
            </a:custGeom>
            <a:solidFill>
              <a:srgbClr val="313E8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900717" y="5594594"/>
            <a:ext cx="28575" cy="1602581"/>
            <a:chOff x="0" y="0"/>
            <a:chExt cx="38100" cy="21367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" cy="2136775"/>
            </a:xfrm>
            <a:custGeom>
              <a:avLst/>
              <a:gdLst/>
              <a:ahLst/>
              <a:cxnLst/>
              <a:rect r="r" b="b" t="t" l="l"/>
              <a:pathLst>
                <a:path h="2136775" w="38100">
                  <a:moveTo>
                    <a:pt x="0" y="0"/>
                  </a:moveTo>
                  <a:lnTo>
                    <a:pt x="38100" y="0"/>
                  </a:lnTo>
                  <a:lnTo>
                    <a:pt x="38100" y="2136775"/>
                  </a:lnTo>
                  <a:lnTo>
                    <a:pt x="0" y="2136775"/>
                  </a:lnTo>
                  <a:close/>
                </a:path>
              </a:pathLst>
            </a:custGeom>
            <a:solidFill>
              <a:srgbClr val="5A6ED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770914" y="830161"/>
            <a:ext cx="6520758" cy="8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Gráficas y Resultados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41186" y="2554634"/>
            <a:ext cx="3943350" cy="8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📉</a:t>
            </a:r>
            <a:r>
              <a:rPr lang="en-US" sz="2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Gráfica de convergencia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41186" y="3542852"/>
            <a:ext cx="3943350" cy="88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Evolución de xₙ por iteración hacia la raíz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41186" y="5191277"/>
            <a:ext cx="3260379" cy="42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📊</a:t>
            </a:r>
            <a:r>
              <a:rPr lang="en-US" sz="2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Gráfica del error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41186" y="5771998"/>
            <a:ext cx="3943350" cy="88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Decrecimiento del error relativo en cada paso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1186" y="7420423"/>
            <a:ext cx="3260379" cy="42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lang="en-US" sz="2562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Resultado final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41186" y="8001152"/>
            <a:ext cx="3943350" cy="88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Raíz aproximada, iteraciones realizadas y error final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00717" y="2254453"/>
            <a:ext cx="3260379" cy="42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00717" y="2835173"/>
            <a:ext cx="4483894" cy="248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El software integra </a:t>
            </a:r>
            <a:r>
              <a:rPr lang="en-US" sz="2000" b="true">
                <a:solidFill>
                  <a:srgbClr val="CFD0D8"/>
                </a:solidFill>
                <a:latin typeface="Roboto Bold"/>
                <a:ea typeface="Roboto Bold"/>
                <a:cs typeface="Roboto Bold"/>
                <a:sym typeface="Roboto Bold"/>
              </a:rPr>
              <a:t>rigor matemático</a:t>
            </a:r>
            <a:r>
              <a:rPr lang="en-US" sz="200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visualización interactiva y robustez ante errores, convirtiéndose en una herramienta didáctica completa para el estudio de la convergencia de métodos numéricos.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91842" y="5508869"/>
            <a:ext cx="4092778" cy="168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 i="true">
                <a:solidFill>
                  <a:srgbClr val="CFD0D8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"Una implementación que transforma un algoritmo abstracto en una experiencia visual y comprensible."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DAHGL2-19Uo</dc:identifier>
  <dcterms:modified xsi:type="dcterms:W3CDTF">2011-08-01T06:04:30Z</dcterms:modified>
  <cp:revision>1</cp:revision>
  <dc:title>Metodo-de-Punto-Fijo.pptx</dc:title>
</cp:coreProperties>
</file>